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87"/>
    <p:restoredTop sz="94726"/>
  </p:normalViewPr>
  <p:slideViewPr>
    <p:cSldViewPr snapToGrid="0">
      <p:cViewPr varScale="1">
        <p:scale>
          <a:sx n="120" d="100"/>
          <a:sy n="120" d="100"/>
        </p:scale>
        <p:origin x="9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사용자</a:t>
            </a:r>
            <a:r>
              <a:rPr dirty="0"/>
              <a:t> </a:t>
            </a:r>
            <a:r>
              <a:rPr dirty="0" err="1"/>
              <a:t>제공</a:t>
            </a:r>
            <a:r>
              <a:rPr dirty="0"/>
              <a:t> </a:t>
            </a:r>
            <a:r>
              <a:rPr dirty="0" err="1"/>
              <a:t>자료</a:t>
            </a:r>
            <a:r>
              <a:rPr dirty="0"/>
              <a:t>: /Users/</a:t>
            </a:r>
            <a:r>
              <a:rPr dirty="0" err="1"/>
              <a:t>baebae</a:t>
            </a:r>
            <a:r>
              <a:rPr dirty="0"/>
              <a:t>/Desktop/</a:t>
            </a:r>
            <a:r>
              <a:rPr dirty="0" err="1"/>
              <a:t>기획발표</a:t>
            </a:r>
            <a:r>
              <a:rPr dirty="0"/>
              <a:t>/</a:t>
            </a:r>
            <a:r>
              <a:rPr dirty="0" err="1"/>
              <a:t>스탠드업</a:t>
            </a:r>
            <a:r>
              <a:rPr dirty="0"/>
              <a:t> </a:t>
            </a:r>
            <a:r>
              <a:rPr dirty="0" err="1"/>
              <a:t>미팅.pdf</a:t>
            </a:r>
            <a:endParaRPr dirty="0"/>
          </a:p>
          <a:p>
            <a:r>
              <a:rPr dirty="0"/>
              <a:t>- </a:t>
            </a:r>
            <a:r>
              <a:rPr dirty="0" err="1"/>
              <a:t>사용자</a:t>
            </a:r>
            <a:r>
              <a:rPr dirty="0"/>
              <a:t> </a:t>
            </a:r>
            <a:r>
              <a:rPr dirty="0" err="1"/>
              <a:t>제공</a:t>
            </a:r>
            <a:r>
              <a:rPr dirty="0"/>
              <a:t> </a:t>
            </a:r>
            <a:r>
              <a:rPr dirty="0" err="1"/>
              <a:t>자료</a:t>
            </a:r>
            <a:r>
              <a:rPr dirty="0"/>
              <a:t>: /Users/</a:t>
            </a:r>
            <a:r>
              <a:rPr dirty="0" err="1"/>
              <a:t>baebae</a:t>
            </a:r>
            <a:r>
              <a:rPr dirty="0"/>
              <a:t>/Desktop/</a:t>
            </a:r>
            <a:r>
              <a:rPr dirty="0" err="1"/>
              <a:t>기획발표</a:t>
            </a:r>
            <a:r>
              <a:rPr dirty="0"/>
              <a:t>/SalesLuv_멀티에이전트_운영플로우_초심자용-1.html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사용자</a:t>
            </a:r>
            <a:r>
              <a:rPr dirty="0"/>
              <a:t> </a:t>
            </a:r>
            <a:r>
              <a:rPr dirty="0" err="1"/>
              <a:t>요청의</a:t>
            </a:r>
            <a:r>
              <a:rPr dirty="0"/>
              <a:t> </a:t>
            </a:r>
            <a:r>
              <a:rPr dirty="0" err="1"/>
              <a:t>발표</a:t>
            </a:r>
            <a:r>
              <a:rPr dirty="0"/>
              <a:t> </a:t>
            </a:r>
            <a:r>
              <a:rPr dirty="0" err="1"/>
              <a:t>목차</a:t>
            </a:r>
            <a:endParaRPr dirty="0"/>
          </a:p>
          <a:p>
            <a:r>
              <a:rPr dirty="0"/>
              <a:t>- </a:t>
            </a:r>
            <a:r>
              <a:rPr dirty="0" err="1"/>
              <a:t>발표</a:t>
            </a:r>
            <a:r>
              <a:rPr dirty="0"/>
              <a:t> </a:t>
            </a:r>
            <a:r>
              <a:rPr dirty="0" err="1"/>
              <a:t>구조는</a:t>
            </a:r>
            <a:r>
              <a:rPr dirty="0"/>
              <a:t> </a:t>
            </a:r>
            <a:r>
              <a:rPr dirty="0" err="1"/>
              <a:t>제공</a:t>
            </a:r>
            <a:r>
              <a:rPr dirty="0"/>
              <a:t> </a:t>
            </a:r>
            <a:r>
              <a:rPr dirty="0" err="1"/>
              <a:t>자료의</a:t>
            </a:r>
            <a:r>
              <a:rPr dirty="0"/>
              <a:t> </a:t>
            </a:r>
            <a:r>
              <a:rPr dirty="0" err="1"/>
              <a:t>문제→시장→흐름→기능→시나리오</a:t>
            </a:r>
            <a:r>
              <a:rPr dirty="0"/>
              <a:t> </a:t>
            </a:r>
            <a:r>
              <a:rPr dirty="0" err="1"/>
              <a:t>순서를</a:t>
            </a:r>
            <a:r>
              <a:rPr dirty="0"/>
              <a:t> </a:t>
            </a:r>
            <a:r>
              <a:rPr dirty="0" err="1"/>
              <a:t>기준으로</a:t>
            </a:r>
            <a:r>
              <a:rPr dirty="0"/>
              <a:t> </a:t>
            </a:r>
            <a:r>
              <a:rPr dirty="0" err="1"/>
              <a:t>재구성함</a:t>
            </a:r>
            <a:r>
              <a:rPr dirty="0"/>
              <a:t> [</a:t>
            </a:r>
            <a:r>
              <a:rPr dirty="0" err="1"/>
              <a:t>추론</a:t>
            </a:r>
            <a:r>
              <a:rPr dirty="0"/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사용자</a:t>
            </a:r>
            <a:r>
              <a:rPr dirty="0"/>
              <a:t> </a:t>
            </a:r>
            <a:r>
              <a:rPr dirty="0" err="1"/>
              <a:t>제공</a:t>
            </a:r>
            <a:r>
              <a:rPr dirty="0"/>
              <a:t> </a:t>
            </a:r>
            <a:r>
              <a:rPr dirty="0" err="1"/>
              <a:t>자료</a:t>
            </a:r>
            <a:r>
              <a:rPr dirty="0"/>
              <a:t>: </a:t>
            </a:r>
            <a:r>
              <a:rPr dirty="0" err="1"/>
              <a:t>스탠드업</a:t>
            </a:r>
            <a:r>
              <a:rPr dirty="0"/>
              <a:t> </a:t>
            </a:r>
            <a:r>
              <a:rPr dirty="0" err="1"/>
              <a:t>미팅.pdf</a:t>
            </a:r>
            <a:r>
              <a:rPr dirty="0"/>
              <a:t>, 1~4번 </a:t>
            </a:r>
            <a:r>
              <a:rPr dirty="0" err="1"/>
              <a:t>문항</a:t>
            </a:r>
            <a:endParaRPr dirty="0"/>
          </a:p>
          <a:p>
            <a:r>
              <a:rPr dirty="0"/>
              <a:t>- </a:t>
            </a:r>
            <a:r>
              <a:rPr dirty="0" err="1"/>
              <a:t>사용자</a:t>
            </a:r>
            <a:r>
              <a:rPr dirty="0"/>
              <a:t> </a:t>
            </a:r>
            <a:r>
              <a:rPr dirty="0" err="1"/>
              <a:t>제공</a:t>
            </a:r>
            <a:r>
              <a:rPr dirty="0"/>
              <a:t> </a:t>
            </a:r>
            <a:r>
              <a:rPr dirty="0" err="1"/>
              <a:t>자료</a:t>
            </a:r>
            <a:r>
              <a:rPr dirty="0"/>
              <a:t>: </a:t>
            </a:r>
            <a:r>
              <a:rPr dirty="0" err="1"/>
              <a:t>SalesLuv</a:t>
            </a:r>
            <a:r>
              <a:rPr dirty="0"/>
              <a:t> </a:t>
            </a:r>
            <a:r>
              <a:rPr dirty="0" err="1"/>
              <a:t>운영플로우</a:t>
            </a:r>
            <a:r>
              <a:rPr dirty="0"/>
              <a:t> HTML, 00절</a:t>
            </a:r>
          </a:p>
          <a:p>
            <a:r>
              <a:rPr dirty="0"/>
              <a:t>- CRM </a:t>
            </a:r>
            <a:r>
              <a:rPr dirty="0" err="1"/>
              <a:t>정의</a:t>
            </a:r>
            <a:r>
              <a:rPr dirty="0"/>
              <a:t>: </a:t>
            </a:r>
            <a:r>
              <a:rPr dirty="0" err="1"/>
              <a:t>사용자</a:t>
            </a:r>
            <a:r>
              <a:rPr dirty="0"/>
              <a:t> </a:t>
            </a:r>
            <a:r>
              <a:rPr dirty="0" err="1"/>
              <a:t>제공</a:t>
            </a:r>
            <a:r>
              <a:rPr dirty="0"/>
              <a:t> </a:t>
            </a:r>
            <a:r>
              <a:rPr dirty="0" err="1"/>
              <a:t>문구를</a:t>
            </a:r>
            <a:r>
              <a:rPr dirty="0"/>
              <a:t> </a:t>
            </a:r>
            <a:r>
              <a:rPr dirty="0" err="1"/>
              <a:t>발표용으로</a:t>
            </a:r>
            <a:r>
              <a:rPr dirty="0"/>
              <a:t> </a:t>
            </a:r>
            <a:r>
              <a:rPr dirty="0" err="1"/>
              <a:t>축약</a:t>
            </a:r>
            <a:endParaRPr dirty="0"/>
          </a:p>
          <a:p>
            <a:endParaRPr dirty="0"/>
          </a:p>
          <a:p>
            <a:r>
              <a:rPr dirty="0"/>
              <a:t>[Speaker cue]</a:t>
            </a:r>
          </a:p>
          <a:p>
            <a:r>
              <a:rPr dirty="0" err="1"/>
              <a:t>개인에게</a:t>
            </a:r>
            <a:r>
              <a:rPr dirty="0"/>
              <a:t> </a:t>
            </a:r>
            <a:r>
              <a:rPr dirty="0" err="1"/>
              <a:t>남는</a:t>
            </a:r>
            <a:r>
              <a:rPr dirty="0"/>
              <a:t> </a:t>
            </a:r>
            <a:r>
              <a:rPr dirty="0" err="1"/>
              <a:t>영업</a:t>
            </a:r>
            <a:r>
              <a:rPr dirty="0"/>
              <a:t> </a:t>
            </a:r>
            <a:r>
              <a:rPr dirty="0" err="1"/>
              <a:t>암묵지를</a:t>
            </a:r>
            <a:r>
              <a:rPr dirty="0"/>
              <a:t> </a:t>
            </a:r>
            <a:r>
              <a:rPr dirty="0" err="1"/>
              <a:t>시스템이</a:t>
            </a:r>
            <a:r>
              <a:rPr dirty="0"/>
              <a:t> </a:t>
            </a:r>
            <a:r>
              <a:rPr dirty="0" err="1"/>
              <a:t>자동으로</a:t>
            </a:r>
            <a:r>
              <a:rPr dirty="0"/>
              <a:t> </a:t>
            </a:r>
            <a:r>
              <a:rPr dirty="0" err="1"/>
              <a:t>확정하는</a:t>
            </a:r>
            <a:r>
              <a:rPr dirty="0"/>
              <a:t> </a:t>
            </a:r>
            <a:r>
              <a:rPr dirty="0" err="1"/>
              <a:t>것이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, </a:t>
            </a:r>
            <a:r>
              <a:rPr dirty="0" err="1"/>
              <a:t>구조화·요약·제안하고</a:t>
            </a:r>
            <a:r>
              <a:rPr dirty="0"/>
              <a:t> </a:t>
            </a:r>
            <a:r>
              <a:rPr dirty="0" err="1"/>
              <a:t>사람의</a:t>
            </a:r>
            <a:r>
              <a:rPr dirty="0"/>
              <a:t> </a:t>
            </a:r>
            <a:r>
              <a:rPr dirty="0" err="1"/>
              <a:t>승인으로</a:t>
            </a:r>
            <a:r>
              <a:rPr dirty="0"/>
              <a:t> </a:t>
            </a:r>
            <a:r>
              <a:rPr dirty="0" err="1"/>
              <a:t>이어지게</a:t>
            </a:r>
            <a:r>
              <a:rPr dirty="0"/>
              <a:t> </a:t>
            </a:r>
            <a:r>
              <a:rPr dirty="0" err="1"/>
              <a:t>한다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사용자</a:t>
            </a:r>
            <a:r>
              <a:rPr dirty="0"/>
              <a:t> </a:t>
            </a:r>
            <a:r>
              <a:rPr dirty="0" err="1"/>
              <a:t>제공</a:t>
            </a:r>
            <a:r>
              <a:rPr dirty="0"/>
              <a:t> </a:t>
            </a:r>
            <a:r>
              <a:rPr dirty="0" err="1"/>
              <a:t>이미지</a:t>
            </a:r>
            <a:r>
              <a:rPr dirty="0"/>
              <a:t>: /Users/</a:t>
            </a:r>
            <a:r>
              <a:rPr dirty="0" err="1"/>
              <a:t>baebae</a:t>
            </a:r>
            <a:r>
              <a:rPr dirty="0"/>
              <a:t>/Desktop/</a:t>
            </a:r>
            <a:r>
              <a:rPr dirty="0" err="1"/>
              <a:t>기획발표</a:t>
            </a:r>
            <a:r>
              <a:rPr dirty="0"/>
              <a:t>/</a:t>
            </a:r>
            <a:r>
              <a:rPr dirty="0" err="1"/>
              <a:t>기존</a:t>
            </a:r>
            <a:r>
              <a:rPr dirty="0"/>
              <a:t> </a:t>
            </a:r>
            <a:r>
              <a:rPr dirty="0" err="1"/>
              <a:t>SCM의</a:t>
            </a:r>
            <a:r>
              <a:rPr dirty="0"/>
              <a:t> </a:t>
            </a:r>
            <a:r>
              <a:rPr dirty="0" err="1"/>
              <a:t>불편사항.png</a:t>
            </a:r>
            <a:endParaRPr dirty="0"/>
          </a:p>
          <a:p>
            <a:r>
              <a:rPr dirty="0"/>
              <a:t>- </a:t>
            </a:r>
            <a:r>
              <a:rPr dirty="0" err="1"/>
              <a:t>사용자</a:t>
            </a:r>
            <a:r>
              <a:rPr dirty="0"/>
              <a:t> </a:t>
            </a:r>
            <a:r>
              <a:rPr dirty="0" err="1"/>
              <a:t>제공</a:t>
            </a:r>
            <a:r>
              <a:rPr dirty="0"/>
              <a:t> </a:t>
            </a:r>
            <a:r>
              <a:rPr dirty="0" err="1"/>
              <a:t>자료</a:t>
            </a:r>
            <a:r>
              <a:rPr dirty="0"/>
              <a:t>: </a:t>
            </a:r>
            <a:r>
              <a:rPr dirty="0" err="1"/>
              <a:t>SalesLuv</a:t>
            </a:r>
            <a:r>
              <a:rPr dirty="0"/>
              <a:t> </a:t>
            </a:r>
            <a:r>
              <a:rPr dirty="0" err="1"/>
              <a:t>운영플로우</a:t>
            </a:r>
            <a:r>
              <a:rPr dirty="0"/>
              <a:t> HTML, 00-1절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근거등급</a:t>
            </a:r>
            <a:r>
              <a:rPr dirty="0"/>
              <a:t>]</a:t>
            </a:r>
          </a:p>
          <a:p>
            <a:r>
              <a:rPr dirty="0"/>
              <a:t>- </a:t>
            </a:r>
            <a:r>
              <a:rPr dirty="0" err="1"/>
              <a:t>네</a:t>
            </a:r>
            <a:r>
              <a:rPr dirty="0"/>
              <a:t> </a:t>
            </a:r>
            <a:r>
              <a:rPr dirty="0" err="1"/>
              <a:t>가지</a:t>
            </a:r>
            <a:r>
              <a:rPr dirty="0"/>
              <a:t> </a:t>
            </a:r>
            <a:r>
              <a:rPr dirty="0" err="1"/>
              <a:t>문제군은</a:t>
            </a:r>
            <a:r>
              <a:rPr dirty="0"/>
              <a:t> </a:t>
            </a:r>
            <a:r>
              <a:rPr dirty="0" err="1"/>
              <a:t>제공</a:t>
            </a:r>
            <a:r>
              <a:rPr dirty="0"/>
              <a:t> </a:t>
            </a:r>
            <a:r>
              <a:rPr dirty="0" err="1"/>
              <a:t>자료의</a:t>
            </a:r>
            <a:r>
              <a:rPr dirty="0"/>
              <a:t> </a:t>
            </a:r>
            <a:r>
              <a:rPr dirty="0" err="1"/>
              <a:t>영업담당자·영업팀장</a:t>
            </a:r>
            <a:r>
              <a:rPr dirty="0"/>
              <a:t> </a:t>
            </a:r>
            <a:r>
              <a:rPr dirty="0" err="1"/>
              <a:t>세부</a:t>
            </a:r>
            <a:r>
              <a:rPr dirty="0"/>
              <a:t> </a:t>
            </a:r>
            <a:r>
              <a:rPr dirty="0" err="1"/>
              <a:t>불편사항을</a:t>
            </a:r>
            <a:r>
              <a:rPr dirty="0"/>
              <a:t> </a:t>
            </a:r>
            <a:r>
              <a:rPr dirty="0" err="1"/>
              <a:t>요약한</a:t>
            </a:r>
            <a:r>
              <a:rPr dirty="0"/>
              <a:t> </a:t>
            </a:r>
            <a:r>
              <a:rPr dirty="0" err="1"/>
              <a:t>것</a:t>
            </a:r>
            <a:r>
              <a:rPr dirty="0"/>
              <a:t> [</a:t>
            </a:r>
            <a:r>
              <a:rPr dirty="0" err="1"/>
              <a:t>검증</a:t>
            </a:r>
            <a:r>
              <a:rPr dirty="0"/>
              <a:t> · </a:t>
            </a:r>
            <a:r>
              <a:rPr dirty="0" err="1"/>
              <a:t>제공</a:t>
            </a:r>
            <a:r>
              <a:rPr dirty="0"/>
              <a:t> </a:t>
            </a:r>
            <a:r>
              <a:rPr dirty="0" err="1"/>
              <a:t>자료</a:t>
            </a:r>
            <a:r>
              <a:rPr dirty="0"/>
              <a:t>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사용자</a:t>
            </a:r>
            <a:r>
              <a:rPr dirty="0"/>
              <a:t> </a:t>
            </a:r>
            <a:r>
              <a:rPr dirty="0" err="1"/>
              <a:t>제공</a:t>
            </a:r>
            <a:r>
              <a:rPr dirty="0"/>
              <a:t> </a:t>
            </a:r>
            <a:r>
              <a:rPr dirty="0" err="1"/>
              <a:t>자료</a:t>
            </a:r>
            <a:r>
              <a:rPr dirty="0"/>
              <a:t>: /Users/</a:t>
            </a:r>
            <a:r>
              <a:rPr dirty="0" err="1"/>
              <a:t>baebae</a:t>
            </a:r>
            <a:r>
              <a:rPr dirty="0"/>
              <a:t>/Desktop/</a:t>
            </a:r>
            <a:r>
              <a:rPr dirty="0" err="1"/>
              <a:t>기획발표</a:t>
            </a:r>
            <a:r>
              <a:rPr dirty="0"/>
              <a:t>/SCM </a:t>
            </a:r>
            <a:r>
              <a:rPr dirty="0" err="1"/>
              <a:t>시장조사.html</a:t>
            </a:r>
            <a:endParaRPr dirty="0"/>
          </a:p>
          <a:p>
            <a:r>
              <a:rPr dirty="0"/>
              <a:t>- </a:t>
            </a:r>
            <a:r>
              <a:rPr dirty="0" err="1"/>
              <a:t>한국보건산업진흥원</a:t>
            </a:r>
            <a:r>
              <a:rPr dirty="0"/>
              <a:t> </a:t>
            </a:r>
            <a:r>
              <a:rPr dirty="0" err="1"/>
              <a:t>실태조사</a:t>
            </a:r>
            <a:r>
              <a:rPr dirty="0"/>
              <a:t>: https://</a:t>
            </a:r>
            <a:r>
              <a:rPr dirty="0" err="1"/>
              <a:t>www.khidi.or.kr</a:t>
            </a:r>
            <a:r>
              <a:rPr dirty="0"/>
              <a:t>/board/</a:t>
            </a:r>
            <a:r>
              <a:rPr dirty="0" err="1"/>
              <a:t>view?linkId</a:t>
            </a:r>
            <a:r>
              <a:rPr dirty="0"/>
              <a:t>=48945740&amp;menuId=MENU00085</a:t>
            </a:r>
          </a:p>
          <a:p>
            <a:r>
              <a:rPr dirty="0"/>
              <a:t>- Grand View Research: https://</a:t>
            </a:r>
            <a:r>
              <a:rPr dirty="0" err="1"/>
              <a:t>www.grandviewresearch.com</a:t>
            </a:r>
            <a:r>
              <a:rPr dirty="0"/>
              <a:t>/horizon/outlook/customer-relationship-management-market/south-</a:t>
            </a:r>
            <a:r>
              <a:rPr dirty="0" err="1"/>
              <a:t>korea</a:t>
            </a:r>
            <a:endParaRPr dirty="0"/>
          </a:p>
          <a:p>
            <a:r>
              <a:rPr dirty="0"/>
              <a:t>- Gartner: https://</a:t>
            </a:r>
            <a:r>
              <a:rPr dirty="0" err="1"/>
              <a:t>www.gartner.com</a:t>
            </a:r>
            <a:r>
              <a:rPr dirty="0"/>
              <a:t>/</a:t>
            </a:r>
            <a:r>
              <a:rPr dirty="0" err="1"/>
              <a:t>en</a:t>
            </a:r>
            <a:r>
              <a:rPr dirty="0"/>
              <a:t>/documents/6791434</a:t>
            </a:r>
          </a:p>
          <a:p>
            <a:r>
              <a:rPr dirty="0"/>
              <a:t>- </a:t>
            </a:r>
            <a:r>
              <a:rPr dirty="0" err="1"/>
              <a:t>숫자는</a:t>
            </a:r>
            <a:r>
              <a:rPr dirty="0"/>
              <a:t> </a:t>
            </a:r>
            <a:r>
              <a:rPr dirty="0" err="1"/>
              <a:t>제공</a:t>
            </a:r>
            <a:r>
              <a:rPr dirty="0"/>
              <a:t> </a:t>
            </a:r>
            <a:r>
              <a:rPr dirty="0" err="1"/>
              <a:t>시장조사</a:t>
            </a:r>
            <a:r>
              <a:rPr dirty="0"/>
              <a:t> </a:t>
            </a:r>
            <a:r>
              <a:rPr dirty="0" err="1"/>
              <a:t>자료의</a:t>
            </a:r>
            <a:r>
              <a:rPr dirty="0"/>
              <a:t> </a:t>
            </a:r>
            <a:r>
              <a:rPr dirty="0" err="1"/>
              <a:t>정의와</a:t>
            </a:r>
            <a:r>
              <a:rPr dirty="0"/>
              <a:t> </a:t>
            </a:r>
            <a:r>
              <a:rPr dirty="0" err="1"/>
              <a:t>환산</a:t>
            </a:r>
            <a:r>
              <a:rPr dirty="0"/>
              <a:t> </a:t>
            </a:r>
            <a:r>
              <a:rPr dirty="0" err="1"/>
              <a:t>기준을</a:t>
            </a:r>
            <a:r>
              <a:rPr dirty="0"/>
              <a:t> </a:t>
            </a:r>
            <a:r>
              <a:rPr dirty="0" err="1"/>
              <a:t>따름</a:t>
            </a:r>
            <a:r>
              <a:rPr dirty="0"/>
              <a:t>. </a:t>
            </a:r>
            <a:r>
              <a:rPr dirty="0" err="1"/>
              <a:t>의료기기</a:t>
            </a:r>
            <a:r>
              <a:rPr dirty="0"/>
              <a:t> </a:t>
            </a:r>
            <a:r>
              <a:rPr dirty="0" err="1"/>
              <a:t>고객</a:t>
            </a:r>
            <a:r>
              <a:rPr dirty="0"/>
              <a:t> </a:t>
            </a:r>
            <a:r>
              <a:rPr dirty="0" err="1"/>
              <a:t>수·좌석</a:t>
            </a:r>
            <a:r>
              <a:rPr dirty="0"/>
              <a:t> </a:t>
            </a:r>
            <a:r>
              <a:rPr dirty="0" err="1"/>
              <a:t>수와</a:t>
            </a:r>
            <a:r>
              <a:rPr dirty="0"/>
              <a:t> CRM </a:t>
            </a:r>
            <a:r>
              <a:rPr dirty="0" err="1"/>
              <a:t>시장</a:t>
            </a:r>
            <a:r>
              <a:rPr dirty="0"/>
              <a:t> </a:t>
            </a:r>
            <a:r>
              <a:rPr dirty="0" err="1"/>
              <a:t>매출은</a:t>
            </a:r>
            <a:r>
              <a:rPr dirty="0"/>
              <a:t> </a:t>
            </a:r>
            <a:r>
              <a:rPr dirty="0" err="1"/>
              <a:t>서로</a:t>
            </a:r>
            <a:r>
              <a:rPr dirty="0"/>
              <a:t> </a:t>
            </a:r>
            <a:r>
              <a:rPr dirty="0" err="1"/>
              <a:t>다른</a:t>
            </a:r>
            <a:r>
              <a:rPr dirty="0"/>
              <a:t> </a:t>
            </a:r>
            <a:r>
              <a:rPr dirty="0" err="1"/>
              <a:t>정의이므로</a:t>
            </a:r>
            <a:r>
              <a:rPr dirty="0"/>
              <a:t> </a:t>
            </a:r>
            <a:r>
              <a:rPr dirty="0" err="1"/>
              <a:t>규모</a:t>
            </a:r>
            <a:r>
              <a:rPr dirty="0"/>
              <a:t> </a:t>
            </a:r>
            <a:r>
              <a:rPr dirty="0" err="1"/>
              <a:t>감각</a:t>
            </a:r>
            <a:r>
              <a:rPr dirty="0"/>
              <a:t> </a:t>
            </a:r>
            <a:r>
              <a:rPr dirty="0" err="1"/>
              <a:t>비교용으로만</a:t>
            </a:r>
            <a:r>
              <a:rPr dirty="0"/>
              <a:t> </a:t>
            </a:r>
            <a:r>
              <a:rPr dirty="0" err="1"/>
              <a:t>사용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사용자</a:t>
            </a:r>
            <a:r>
              <a:rPr dirty="0"/>
              <a:t> </a:t>
            </a:r>
            <a:r>
              <a:rPr dirty="0" err="1"/>
              <a:t>제공</a:t>
            </a:r>
            <a:r>
              <a:rPr dirty="0"/>
              <a:t> </a:t>
            </a:r>
            <a:r>
              <a:rPr dirty="0" err="1"/>
              <a:t>이미지</a:t>
            </a:r>
            <a:r>
              <a:rPr dirty="0"/>
              <a:t>: /Users/</a:t>
            </a:r>
            <a:r>
              <a:rPr dirty="0" err="1"/>
              <a:t>baebae</a:t>
            </a:r>
            <a:r>
              <a:rPr dirty="0"/>
              <a:t>/Desktop/</a:t>
            </a:r>
            <a:r>
              <a:rPr dirty="0" err="1"/>
              <a:t>기획발표</a:t>
            </a:r>
            <a:r>
              <a:rPr dirty="0"/>
              <a:t>/</a:t>
            </a:r>
            <a:r>
              <a:rPr dirty="0" err="1"/>
              <a:t>영업흐름.png</a:t>
            </a:r>
            <a:endParaRPr dirty="0"/>
          </a:p>
          <a:p>
            <a:r>
              <a:rPr dirty="0"/>
              <a:t>- </a:t>
            </a:r>
            <a:r>
              <a:rPr dirty="0" err="1"/>
              <a:t>사용자</a:t>
            </a:r>
            <a:r>
              <a:rPr dirty="0"/>
              <a:t> </a:t>
            </a:r>
            <a:r>
              <a:rPr dirty="0" err="1"/>
              <a:t>요청으로</a:t>
            </a:r>
            <a:r>
              <a:rPr dirty="0"/>
              <a:t> </a:t>
            </a:r>
            <a:r>
              <a:rPr dirty="0" err="1"/>
              <a:t>확정된</a:t>
            </a:r>
            <a:r>
              <a:rPr dirty="0"/>
              <a:t> 6단계: </a:t>
            </a:r>
            <a:r>
              <a:rPr dirty="0" err="1"/>
              <a:t>리서치</a:t>
            </a:r>
            <a:r>
              <a:rPr dirty="0"/>
              <a:t> → </a:t>
            </a:r>
            <a:r>
              <a:rPr dirty="0" err="1"/>
              <a:t>방문미팅</a:t>
            </a:r>
            <a:r>
              <a:rPr dirty="0"/>
              <a:t> → </a:t>
            </a:r>
            <a:r>
              <a:rPr dirty="0" err="1"/>
              <a:t>제품시연</a:t>
            </a:r>
            <a:r>
              <a:rPr dirty="0"/>
              <a:t> → </a:t>
            </a:r>
            <a:r>
              <a:rPr dirty="0" err="1"/>
              <a:t>견적서</a:t>
            </a:r>
            <a:r>
              <a:rPr dirty="0"/>
              <a:t> </a:t>
            </a:r>
            <a:r>
              <a:rPr dirty="0" err="1"/>
              <a:t>전달</a:t>
            </a:r>
            <a:r>
              <a:rPr dirty="0"/>
              <a:t> → </a:t>
            </a:r>
            <a:r>
              <a:rPr dirty="0" err="1"/>
              <a:t>계약</a:t>
            </a:r>
            <a:r>
              <a:rPr dirty="0"/>
              <a:t> → </a:t>
            </a:r>
            <a:r>
              <a:rPr dirty="0" err="1"/>
              <a:t>제품설치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사용자</a:t>
            </a:r>
            <a:r>
              <a:rPr dirty="0"/>
              <a:t> </a:t>
            </a:r>
            <a:r>
              <a:rPr dirty="0" err="1"/>
              <a:t>제공</a:t>
            </a:r>
            <a:r>
              <a:rPr dirty="0"/>
              <a:t> </a:t>
            </a:r>
            <a:r>
              <a:rPr dirty="0" err="1"/>
              <a:t>이미지</a:t>
            </a:r>
            <a:r>
              <a:rPr dirty="0"/>
              <a:t>: /Users/</a:t>
            </a:r>
            <a:r>
              <a:rPr dirty="0" err="1"/>
              <a:t>baebae</a:t>
            </a:r>
            <a:r>
              <a:rPr dirty="0"/>
              <a:t>/Desktop/</a:t>
            </a:r>
            <a:r>
              <a:rPr dirty="0" err="1"/>
              <a:t>기획발표</a:t>
            </a:r>
            <a:r>
              <a:rPr dirty="0"/>
              <a:t>/</a:t>
            </a:r>
            <a:r>
              <a:rPr dirty="0" err="1"/>
              <a:t>기존</a:t>
            </a:r>
            <a:r>
              <a:rPr dirty="0"/>
              <a:t> </a:t>
            </a:r>
            <a:r>
              <a:rPr dirty="0" err="1"/>
              <a:t>SCM의</a:t>
            </a:r>
            <a:r>
              <a:rPr dirty="0"/>
              <a:t> </a:t>
            </a:r>
            <a:r>
              <a:rPr dirty="0" err="1"/>
              <a:t>불편사항.png</a:t>
            </a:r>
            <a:endParaRPr dirty="0"/>
          </a:p>
          <a:p>
            <a:r>
              <a:rPr dirty="0"/>
              <a:t>- </a:t>
            </a:r>
            <a:r>
              <a:rPr dirty="0" err="1"/>
              <a:t>사용자</a:t>
            </a:r>
            <a:r>
              <a:rPr dirty="0"/>
              <a:t> </a:t>
            </a:r>
            <a:r>
              <a:rPr dirty="0" err="1"/>
              <a:t>제공</a:t>
            </a:r>
            <a:r>
              <a:rPr dirty="0"/>
              <a:t> </a:t>
            </a:r>
            <a:r>
              <a:rPr dirty="0" err="1"/>
              <a:t>자료</a:t>
            </a:r>
            <a:r>
              <a:rPr dirty="0"/>
              <a:t>: </a:t>
            </a:r>
            <a:r>
              <a:rPr dirty="0" err="1"/>
              <a:t>SalesLuv</a:t>
            </a:r>
            <a:r>
              <a:rPr dirty="0"/>
              <a:t> </a:t>
            </a:r>
            <a:r>
              <a:rPr dirty="0" err="1"/>
              <a:t>운영플로우</a:t>
            </a:r>
            <a:r>
              <a:rPr dirty="0"/>
              <a:t> HTML, 00-1절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근거등급</a:t>
            </a:r>
            <a:r>
              <a:rPr dirty="0"/>
              <a:t>]</a:t>
            </a:r>
          </a:p>
          <a:p>
            <a:r>
              <a:rPr dirty="0"/>
              <a:t>- </a:t>
            </a:r>
            <a:r>
              <a:rPr dirty="0" err="1"/>
              <a:t>마지막</a:t>
            </a:r>
            <a:r>
              <a:rPr dirty="0"/>
              <a:t> </a:t>
            </a:r>
            <a:r>
              <a:rPr dirty="0" err="1"/>
              <a:t>문장은</a:t>
            </a:r>
            <a:r>
              <a:rPr dirty="0"/>
              <a:t> </a:t>
            </a:r>
            <a:r>
              <a:rPr dirty="0" err="1"/>
              <a:t>네</a:t>
            </a:r>
            <a:r>
              <a:rPr dirty="0"/>
              <a:t> </a:t>
            </a:r>
            <a:r>
              <a:rPr dirty="0" err="1"/>
              <a:t>가지</a:t>
            </a:r>
            <a:r>
              <a:rPr dirty="0"/>
              <a:t> </a:t>
            </a:r>
            <a:r>
              <a:rPr dirty="0" err="1"/>
              <a:t>문제군과</a:t>
            </a:r>
            <a:r>
              <a:rPr dirty="0"/>
              <a:t> SalesLuv </a:t>
            </a:r>
            <a:r>
              <a:rPr dirty="0" err="1"/>
              <a:t>운영플로우를</a:t>
            </a:r>
            <a:r>
              <a:rPr dirty="0"/>
              <a:t> </a:t>
            </a:r>
            <a:r>
              <a:rPr dirty="0" err="1"/>
              <a:t>연결한</a:t>
            </a:r>
            <a:r>
              <a:rPr dirty="0"/>
              <a:t> </a:t>
            </a:r>
            <a:r>
              <a:rPr dirty="0" err="1"/>
              <a:t>구조적</a:t>
            </a:r>
            <a:r>
              <a:rPr dirty="0"/>
              <a:t> </a:t>
            </a:r>
            <a:r>
              <a:rPr dirty="0" err="1"/>
              <a:t>해석</a:t>
            </a:r>
            <a:r>
              <a:rPr dirty="0"/>
              <a:t> [</a:t>
            </a:r>
            <a:r>
              <a:rPr dirty="0" err="1"/>
              <a:t>추론</a:t>
            </a:r>
            <a:r>
              <a:rPr dirty="0"/>
              <a:t>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사용자</a:t>
            </a:r>
            <a:r>
              <a:rPr dirty="0"/>
              <a:t> </a:t>
            </a:r>
            <a:r>
              <a:rPr dirty="0" err="1"/>
              <a:t>제공</a:t>
            </a:r>
            <a:r>
              <a:rPr dirty="0"/>
              <a:t> </a:t>
            </a:r>
            <a:r>
              <a:rPr dirty="0" err="1"/>
              <a:t>자료</a:t>
            </a:r>
            <a:r>
              <a:rPr dirty="0"/>
              <a:t>: SalesLuv_멀티에이전트_운영플로우_초심자용-1.html, 00절·01절·03절·04절</a:t>
            </a:r>
          </a:p>
          <a:p>
            <a:r>
              <a:rPr dirty="0"/>
              <a:t>- </a:t>
            </a:r>
            <a:r>
              <a:rPr dirty="0" err="1"/>
              <a:t>사용자</a:t>
            </a:r>
            <a:r>
              <a:rPr dirty="0"/>
              <a:t> </a:t>
            </a:r>
            <a:r>
              <a:rPr dirty="0" err="1"/>
              <a:t>제공</a:t>
            </a:r>
            <a:r>
              <a:rPr dirty="0"/>
              <a:t> </a:t>
            </a:r>
            <a:r>
              <a:rPr dirty="0" err="1"/>
              <a:t>자료</a:t>
            </a:r>
            <a:r>
              <a:rPr dirty="0"/>
              <a:t>: </a:t>
            </a:r>
            <a:r>
              <a:rPr dirty="0" err="1"/>
              <a:t>스탠드업</a:t>
            </a:r>
            <a:r>
              <a:rPr dirty="0"/>
              <a:t> </a:t>
            </a:r>
            <a:r>
              <a:rPr dirty="0" err="1"/>
              <a:t>미팅.pdf</a:t>
            </a:r>
            <a:r>
              <a:rPr dirty="0"/>
              <a:t>, 4~7번 </a:t>
            </a:r>
            <a:r>
              <a:rPr dirty="0" err="1"/>
              <a:t>문항</a:t>
            </a:r>
            <a:endParaRPr dirty="0"/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근거등급</a:t>
            </a:r>
            <a:r>
              <a:rPr dirty="0"/>
              <a:t>]</a:t>
            </a:r>
          </a:p>
          <a:p>
            <a:r>
              <a:rPr dirty="0"/>
              <a:t>- </a:t>
            </a:r>
            <a:r>
              <a:rPr dirty="0" err="1"/>
              <a:t>STT·OCR·승인</a:t>
            </a:r>
            <a:r>
              <a:rPr dirty="0"/>
              <a:t> </a:t>
            </a:r>
            <a:r>
              <a:rPr dirty="0" err="1"/>
              <a:t>게이트·Deal</a:t>
            </a:r>
            <a:r>
              <a:rPr dirty="0"/>
              <a:t>/Portfolio </a:t>
            </a:r>
            <a:r>
              <a:rPr dirty="0" err="1"/>
              <a:t>역할</a:t>
            </a:r>
            <a:r>
              <a:rPr dirty="0"/>
              <a:t> </a:t>
            </a:r>
            <a:r>
              <a:rPr dirty="0" err="1"/>
              <a:t>분리는</a:t>
            </a:r>
            <a:r>
              <a:rPr dirty="0"/>
              <a:t> </a:t>
            </a:r>
            <a:r>
              <a:rPr dirty="0" err="1"/>
              <a:t>제공</a:t>
            </a:r>
            <a:r>
              <a:rPr dirty="0"/>
              <a:t> </a:t>
            </a:r>
            <a:r>
              <a:rPr dirty="0" err="1"/>
              <a:t>자료에</a:t>
            </a:r>
            <a:r>
              <a:rPr dirty="0"/>
              <a:t> </a:t>
            </a:r>
            <a:r>
              <a:rPr dirty="0" err="1"/>
              <a:t>명시된</a:t>
            </a:r>
            <a:r>
              <a:rPr dirty="0"/>
              <a:t> </a:t>
            </a:r>
            <a:r>
              <a:rPr dirty="0" err="1"/>
              <a:t>기능</a:t>
            </a:r>
            <a:r>
              <a:rPr dirty="0"/>
              <a:t> [</a:t>
            </a:r>
            <a:r>
              <a:rPr dirty="0" err="1"/>
              <a:t>검증</a:t>
            </a:r>
            <a:r>
              <a:rPr dirty="0"/>
              <a:t>].</a:t>
            </a:r>
          </a:p>
          <a:p>
            <a:r>
              <a:rPr dirty="0"/>
              <a:t>- “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입력</a:t>
            </a:r>
            <a:r>
              <a:rPr dirty="0"/>
              <a:t> </a:t>
            </a:r>
            <a:r>
              <a:rPr dirty="0" err="1"/>
              <a:t>하나가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…”</a:t>
            </a:r>
            <a:r>
              <a:rPr dirty="0" err="1"/>
              <a:t>는</a:t>
            </a:r>
            <a:r>
              <a:rPr dirty="0"/>
              <a:t> </a:t>
            </a:r>
            <a:r>
              <a:rPr dirty="0" err="1"/>
              <a:t>기능을</a:t>
            </a:r>
            <a:r>
              <a:rPr dirty="0"/>
              <a:t> </a:t>
            </a:r>
            <a:r>
              <a:rPr dirty="0" err="1"/>
              <a:t>문제정의와</a:t>
            </a:r>
            <a:r>
              <a:rPr dirty="0"/>
              <a:t> </a:t>
            </a:r>
            <a:r>
              <a:rPr dirty="0" err="1"/>
              <a:t>연결한</a:t>
            </a:r>
            <a:r>
              <a:rPr dirty="0"/>
              <a:t> </a:t>
            </a:r>
            <a:r>
              <a:rPr dirty="0" err="1"/>
              <a:t>해석</a:t>
            </a:r>
            <a:r>
              <a:rPr dirty="0"/>
              <a:t> [</a:t>
            </a:r>
            <a:r>
              <a:rPr dirty="0" err="1"/>
              <a:t>추론</a:t>
            </a:r>
            <a:r>
              <a:rPr dirty="0"/>
              <a:t>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사용자</a:t>
            </a:r>
            <a:r>
              <a:rPr dirty="0"/>
              <a:t> </a:t>
            </a:r>
            <a:r>
              <a:rPr dirty="0" err="1"/>
              <a:t>제공</a:t>
            </a:r>
            <a:r>
              <a:rPr dirty="0"/>
              <a:t> </a:t>
            </a:r>
            <a:r>
              <a:rPr dirty="0" err="1"/>
              <a:t>자료</a:t>
            </a:r>
            <a:r>
              <a:rPr dirty="0"/>
              <a:t>: </a:t>
            </a:r>
            <a:r>
              <a:rPr dirty="0" err="1"/>
              <a:t>SalesLuv</a:t>
            </a:r>
            <a:r>
              <a:rPr dirty="0"/>
              <a:t> </a:t>
            </a:r>
            <a:r>
              <a:rPr dirty="0" err="1"/>
              <a:t>운영플로우</a:t>
            </a:r>
            <a:r>
              <a:rPr dirty="0"/>
              <a:t> HTML, 04절 </a:t>
            </a:r>
            <a:r>
              <a:rPr dirty="0" err="1"/>
              <a:t>사용</a:t>
            </a:r>
            <a:r>
              <a:rPr dirty="0"/>
              <a:t> </a:t>
            </a:r>
            <a:r>
              <a:rPr dirty="0" err="1"/>
              <a:t>시나리오</a:t>
            </a:r>
            <a:endParaRPr dirty="0"/>
          </a:p>
          <a:p>
            <a:r>
              <a:rPr dirty="0"/>
              <a:t>- </a:t>
            </a:r>
            <a:r>
              <a:rPr dirty="0" err="1"/>
              <a:t>사용자</a:t>
            </a:r>
            <a:r>
              <a:rPr dirty="0"/>
              <a:t> </a:t>
            </a:r>
            <a:r>
              <a:rPr dirty="0" err="1"/>
              <a:t>제공</a:t>
            </a:r>
            <a:r>
              <a:rPr dirty="0"/>
              <a:t> </a:t>
            </a:r>
            <a:r>
              <a:rPr dirty="0" err="1"/>
              <a:t>자료</a:t>
            </a:r>
            <a:r>
              <a:rPr dirty="0"/>
              <a:t>: </a:t>
            </a:r>
            <a:r>
              <a:rPr dirty="0" err="1"/>
              <a:t>SalesLuv</a:t>
            </a:r>
            <a:r>
              <a:rPr dirty="0"/>
              <a:t> </a:t>
            </a:r>
            <a:r>
              <a:rPr dirty="0" err="1"/>
              <a:t>운영플로우</a:t>
            </a:r>
            <a:r>
              <a:rPr dirty="0"/>
              <a:t> HTML, 00절 “</a:t>
            </a:r>
            <a:r>
              <a:rPr dirty="0" err="1"/>
              <a:t>AI가</a:t>
            </a:r>
            <a:r>
              <a:rPr dirty="0"/>
              <a:t> </a:t>
            </a:r>
            <a:r>
              <a:rPr dirty="0" err="1"/>
              <a:t>확정하지는</a:t>
            </a:r>
            <a:r>
              <a:rPr dirty="0"/>
              <a:t> </a:t>
            </a:r>
            <a:r>
              <a:rPr dirty="0" err="1"/>
              <a:t>않습니다</a:t>
            </a:r>
            <a:r>
              <a:rPr dirty="0"/>
              <a:t>”</a:t>
            </a:r>
          </a:p>
          <a:p>
            <a:r>
              <a:rPr dirty="0"/>
              <a:t>- </a:t>
            </a:r>
            <a:r>
              <a:rPr dirty="0" err="1"/>
              <a:t>사용자</a:t>
            </a:r>
            <a:r>
              <a:rPr dirty="0"/>
              <a:t> </a:t>
            </a:r>
            <a:r>
              <a:rPr dirty="0" err="1"/>
              <a:t>제공</a:t>
            </a:r>
            <a:r>
              <a:rPr dirty="0"/>
              <a:t> </a:t>
            </a:r>
            <a:r>
              <a:rPr dirty="0" err="1"/>
              <a:t>자료</a:t>
            </a:r>
            <a:r>
              <a:rPr dirty="0"/>
              <a:t>: </a:t>
            </a:r>
            <a:r>
              <a:rPr dirty="0" err="1"/>
              <a:t>스탠드업</a:t>
            </a:r>
            <a:r>
              <a:rPr dirty="0"/>
              <a:t> </a:t>
            </a:r>
            <a:r>
              <a:rPr dirty="0" err="1"/>
              <a:t>미팅.pdf</a:t>
            </a:r>
            <a:r>
              <a:rPr dirty="0"/>
              <a:t>, 8번 </a:t>
            </a:r>
            <a:r>
              <a:rPr dirty="0" err="1"/>
              <a:t>문항의</a:t>
            </a:r>
            <a:r>
              <a:rPr dirty="0"/>
              <a:t> </a:t>
            </a:r>
            <a:r>
              <a:rPr dirty="0" err="1"/>
              <a:t>인수인계</a:t>
            </a:r>
            <a:r>
              <a:rPr dirty="0"/>
              <a:t> </a:t>
            </a:r>
            <a:r>
              <a:rPr dirty="0" err="1"/>
              <a:t>시나리오는</a:t>
            </a:r>
            <a:r>
              <a:rPr dirty="0"/>
              <a:t> </a:t>
            </a:r>
            <a:r>
              <a:rPr dirty="0" err="1"/>
              <a:t>별도</a:t>
            </a:r>
            <a:r>
              <a:rPr dirty="0"/>
              <a:t>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시나리오로</a:t>
            </a:r>
            <a:r>
              <a:rPr dirty="0"/>
              <a:t> </a:t>
            </a:r>
            <a:r>
              <a:rPr dirty="0" err="1"/>
              <a:t>기록되어</a:t>
            </a:r>
            <a:r>
              <a:rPr dirty="0"/>
              <a:t> </a:t>
            </a:r>
            <a:r>
              <a:rPr dirty="0" err="1"/>
              <a:t>있으며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검증</a:t>
            </a:r>
            <a:r>
              <a:rPr dirty="0"/>
              <a:t> </a:t>
            </a:r>
            <a:r>
              <a:rPr dirty="0" err="1"/>
              <a:t>전</a:t>
            </a:r>
            <a:r>
              <a:rPr dirty="0"/>
              <a:t> [</a:t>
            </a:r>
            <a:r>
              <a:rPr dirty="0" err="1"/>
              <a:t>추론</a:t>
            </a:r>
            <a:r>
              <a:rPr dirty="0"/>
              <a:t>]</a:t>
            </a:r>
            <a:r>
              <a:rPr dirty="0" err="1"/>
              <a:t>으로</a:t>
            </a:r>
            <a:r>
              <a:rPr dirty="0"/>
              <a:t> </a:t>
            </a:r>
            <a:r>
              <a:rPr dirty="0" err="1"/>
              <a:t>표시됨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사용자</a:t>
            </a:r>
            <a:r>
              <a:rPr dirty="0"/>
              <a:t> </a:t>
            </a:r>
            <a:r>
              <a:rPr dirty="0" err="1"/>
              <a:t>제공</a:t>
            </a:r>
            <a:r>
              <a:rPr dirty="0"/>
              <a:t> </a:t>
            </a:r>
            <a:r>
              <a:rPr dirty="0" err="1"/>
              <a:t>자료</a:t>
            </a:r>
            <a:r>
              <a:rPr dirty="0"/>
              <a:t>: </a:t>
            </a:r>
            <a:r>
              <a:rPr dirty="0" err="1"/>
              <a:t>스탠드업</a:t>
            </a:r>
            <a:r>
              <a:rPr dirty="0"/>
              <a:t> </a:t>
            </a:r>
            <a:r>
              <a:rPr dirty="0" err="1"/>
              <a:t>미팅.pdf</a:t>
            </a:r>
            <a:r>
              <a:rPr dirty="0"/>
              <a:t>, 3~5번 </a:t>
            </a:r>
            <a:r>
              <a:rPr dirty="0" err="1"/>
              <a:t>문항</a:t>
            </a:r>
            <a:endParaRPr dirty="0"/>
          </a:p>
          <a:p>
            <a:r>
              <a:rPr dirty="0"/>
              <a:t>- </a:t>
            </a:r>
            <a:r>
              <a:rPr dirty="0" err="1"/>
              <a:t>사용자</a:t>
            </a:r>
            <a:r>
              <a:rPr dirty="0"/>
              <a:t> </a:t>
            </a:r>
            <a:r>
              <a:rPr dirty="0" err="1"/>
              <a:t>제공</a:t>
            </a:r>
            <a:r>
              <a:rPr dirty="0"/>
              <a:t> </a:t>
            </a:r>
            <a:r>
              <a:rPr dirty="0" err="1"/>
              <a:t>자료</a:t>
            </a:r>
            <a:r>
              <a:rPr dirty="0"/>
              <a:t>: </a:t>
            </a:r>
            <a:r>
              <a:rPr dirty="0" err="1"/>
              <a:t>SalesLuv</a:t>
            </a:r>
            <a:r>
              <a:rPr dirty="0"/>
              <a:t> </a:t>
            </a:r>
            <a:r>
              <a:rPr dirty="0" err="1"/>
              <a:t>운영플로우</a:t>
            </a:r>
            <a:r>
              <a:rPr dirty="0"/>
              <a:t> HTML, 00절·04절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근거등급</a:t>
            </a:r>
            <a:r>
              <a:rPr dirty="0"/>
              <a:t>]</a:t>
            </a:r>
          </a:p>
          <a:p>
            <a:r>
              <a:rPr dirty="0"/>
              <a:t>- </a:t>
            </a:r>
            <a:r>
              <a:rPr dirty="0" err="1"/>
              <a:t>기존</a:t>
            </a:r>
            <a:r>
              <a:rPr dirty="0"/>
              <a:t> </a:t>
            </a:r>
            <a:r>
              <a:rPr dirty="0" err="1"/>
              <a:t>방법과</a:t>
            </a:r>
            <a:r>
              <a:rPr dirty="0"/>
              <a:t> </a:t>
            </a:r>
            <a:r>
              <a:rPr dirty="0" err="1"/>
              <a:t>이용</a:t>
            </a:r>
            <a:r>
              <a:rPr dirty="0"/>
              <a:t> </a:t>
            </a:r>
            <a:r>
              <a:rPr dirty="0" err="1"/>
              <a:t>후</a:t>
            </a:r>
            <a:r>
              <a:rPr dirty="0"/>
              <a:t> </a:t>
            </a:r>
            <a:r>
              <a:rPr dirty="0" err="1"/>
              <a:t>업무</a:t>
            </a:r>
            <a:r>
              <a:rPr dirty="0"/>
              <a:t> </a:t>
            </a:r>
            <a:r>
              <a:rPr dirty="0" err="1"/>
              <a:t>변화</a:t>
            </a:r>
            <a:r>
              <a:rPr dirty="0"/>
              <a:t> </a:t>
            </a:r>
            <a:r>
              <a:rPr dirty="0" err="1"/>
              <a:t>방향은</a:t>
            </a:r>
            <a:r>
              <a:rPr dirty="0"/>
              <a:t> </a:t>
            </a:r>
            <a:r>
              <a:rPr dirty="0" err="1"/>
              <a:t>제공</a:t>
            </a:r>
            <a:r>
              <a:rPr dirty="0"/>
              <a:t> </a:t>
            </a:r>
            <a:r>
              <a:rPr dirty="0" err="1"/>
              <a:t>자료</a:t>
            </a:r>
            <a:r>
              <a:rPr dirty="0"/>
              <a:t> </a:t>
            </a:r>
            <a:r>
              <a:rPr dirty="0" err="1"/>
              <a:t>기반</a:t>
            </a:r>
            <a:r>
              <a:rPr dirty="0"/>
              <a:t> [</a:t>
            </a:r>
            <a:r>
              <a:rPr dirty="0" err="1"/>
              <a:t>검증</a:t>
            </a:r>
            <a:r>
              <a:rPr dirty="0"/>
              <a:t>].</a:t>
            </a:r>
          </a:p>
          <a:p>
            <a:r>
              <a:rPr dirty="0"/>
              <a:t>- </a:t>
            </a:r>
            <a:r>
              <a:rPr dirty="0" err="1"/>
              <a:t>수치형</a:t>
            </a:r>
            <a:r>
              <a:rPr dirty="0"/>
              <a:t> </a:t>
            </a:r>
            <a:r>
              <a:rPr dirty="0" err="1"/>
              <a:t>효과는</a:t>
            </a:r>
            <a:r>
              <a:rPr dirty="0"/>
              <a:t> </a:t>
            </a:r>
            <a:r>
              <a:rPr dirty="0" err="1"/>
              <a:t>현재</a:t>
            </a:r>
            <a:r>
              <a:rPr dirty="0"/>
              <a:t> </a:t>
            </a:r>
            <a:r>
              <a:rPr dirty="0" err="1"/>
              <a:t>기준선과</a:t>
            </a:r>
            <a:r>
              <a:rPr dirty="0"/>
              <a:t> </a:t>
            </a:r>
            <a:r>
              <a:rPr dirty="0" err="1"/>
              <a:t>목표값이</a:t>
            </a:r>
            <a:r>
              <a:rPr dirty="0"/>
              <a:t> </a:t>
            </a:r>
            <a:r>
              <a:rPr dirty="0" err="1"/>
              <a:t>없어</a:t>
            </a:r>
            <a:r>
              <a:rPr dirty="0"/>
              <a:t> </a:t>
            </a:r>
            <a:r>
              <a:rPr dirty="0" err="1"/>
              <a:t>임의로</a:t>
            </a:r>
            <a:r>
              <a:rPr dirty="0"/>
              <a:t> </a:t>
            </a:r>
            <a:r>
              <a:rPr dirty="0" err="1"/>
              <a:t>제시하지</a:t>
            </a:r>
            <a:r>
              <a:rPr dirty="0"/>
              <a:t> </a:t>
            </a:r>
            <a:r>
              <a:rPr dirty="0" err="1"/>
              <a:t>않음</a:t>
            </a:r>
            <a:r>
              <a:rPr dirty="0"/>
              <a:t> [</a:t>
            </a:r>
            <a:r>
              <a:rPr dirty="0" err="1"/>
              <a:t>미확인</a:t>
            </a:r>
            <a:r>
              <a:rPr dirty="0"/>
              <a:t>].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검증</a:t>
            </a:r>
            <a:r>
              <a:rPr dirty="0"/>
              <a:t> </a:t>
            </a:r>
            <a:r>
              <a:rPr dirty="0" err="1"/>
              <a:t>설계</a:t>
            </a:r>
            <a:r>
              <a:rPr dirty="0"/>
              <a:t> </a:t>
            </a:r>
            <a:r>
              <a:rPr dirty="0" err="1"/>
              <a:t>제안</a:t>
            </a:r>
            <a:r>
              <a:rPr dirty="0"/>
              <a:t>]</a:t>
            </a:r>
          </a:p>
          <a:p>
            <a:r>
              <a:rPr dirty="0"/>
              <a:t>- </a:t>
            </a:r>
            <a:r>
              <a:rPr dirty="0" err="1"/>
              <a:t>도입</a:t>
            </a:r>
            <a:r>
              <a:rPr dirty="0"/>
              <a:t> </a:t>
            </a:r>
            <a:r>
              <a:rPr dirty="0" err="1"/>
              <a:t>전후</a:t>
            </a:r>
            <a:r>
              <a:rPr dirty="0"/>
              <a:t> </a:t>
            </a:r>
            <a:r>
              <a:rPr dirty="0" err="1"/>
              <a:t>동일</a:t>
            </a:r>
            <a:r>
              <a:rPr dirty="0"/>
              <a:t> </a:t>
            </a:r>
            <a:r>
              <a:rPr dirty="0" err="1"/>
              <a:t>사용자</a:t>
            </a:r>
            <a:r>
              <a:rPr dirty="0"/>
              <a:t> </a:t>
            </a:r>
            <a:r>
              <a:rPr dirty="0" err="1"/>
              <a:t>기준으로</a:t>
            </a:r>
            <a:r>
              <a:rPr dirty="0"/>
              <a:t> </a:t>
            </a:r>
            <a:r>
              <a:rPr dirty="0" err="1"/>
              <a:t>기록</a:t>
            </a:r>
            <a:r>
              <a:rPr dirty="0"/>
              <a:t> </a:t>
            </a:r>
            <a:r>
              <a:rPr dirty="0" err="1"/>
              <a:t>소요시간·보고서</a:t>
            </a:r>
            <a:r>
              <a:rPr dirty="0"/>
              <a:t> </a:t>
            </a:r>
            <a:r>
              <a:rPr dirty="0" err="1"/>
              <a:t>확정률을</a:t>
            </a:r>
            <a:r>
              <a:rPr dirty="0"/>
              <a:t> </a:t>
            </a:r>
            <a:r>
              <a:rPr dirty="0" err="1"/>
              <a:t>비교</a:t>
            </a:r>
            <a:r>
              <a:rPr dirty="0"/>
              <a:t>.</a:t>
            </a:r>
          </a:p>
          <a:p>
            <a:r>
              <a:rPr dirty="0"/>
              <a:t>- </a:t>
            </a:r>
            <a:r>
              <a:rPr dirty="0" err="1"/>
              <a:t>인수인계</a:t>
            </a:r>
            <a:r>
              <a:rPr dirty="0"/>
              <a:t> </a:t>
            </a:r>
            <a:r>
              <a:rPr dirty="0" err="1"/>
              <a:t>시나리오에서는</a:t>
            </a:r>
            <a:r>
              <a:rPr dirty="0"/>
              <a:t> </a:t>
            </a:r>
            <a:r>
              <a:rPr dirty="0" err="1"/>
              <a:t>체크리스트</a:t>
            </a:r>
            <a:r>
              <a:rPr dirty="0"/>
              <a:t>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누락</a:t>
            </a:r>
            <a:r>
              <a:rPr dirty="0"/>
              <a:t> </a:t>
            </a:r>
            <a:r>
              <a:rPr dirty="0" err="1"/>
              <a:t>항목을</a:t>
            </a:r>
            <a:r>
              <a:rPr dirty="0"/>
              <a:t> </a:t>
            </a:r>
            <a:r>
              <a:rPr dirty="0" err="1"/>
              <a:t>전후</a:t>
            </a:r>
            <a:r>
              <a:rPr dirty="0"/>
              <a:t> </a:t>
            </a:r>
            <a:r>
              <a:rPr dirty="0" err="1"/>
              <a:t>비교</a:t>
            </a:r>
            <a:r>
              <a:rPr dirty="0"/>
              <a:t>.</a:t>
            </a:r>
          </a:p>
          <a:p>
            <a:r>
              <a:rPr dirty="0"/>
              <a:t>- </a:t>
            </a:r>
            <a:r>
              <a:rPr dirty="0" err="1"/>
              <a:t>다음</a:t>
            </a:r>
            <a:r>
              <a:rPr dirty="0"/>
              <a:t> </a:t>
            </a:r>
            <a:r>
              <a:rPr dirty="0" err="1"/>
              <a:t>행동</a:t>
            </a:r>
            <a:r>
              <a:rPr dirty="0"/>
              <a:t> </a:t>
            </a:r>
            <a:r>
              <a:rPr dirty="0" err="1"/>
              <a:t>실행률은</a:t>
            </a:r>
            <a:r>
              <a:rPr dirty="0"/>
              <a:t> </a:t>
            </a:r>
            <a:r>
              <a:rPr dirty="0" err="1"/>
              <a:t>정의</a:t>
            </a:r>
            <a:r>
              <a:rPr dirty="0"/>
              <a:t>(</a:t>
            </a:r>
            <a:r>
              <a:rPr dirty="0" err="1"/>
              <a:t>완료</a:t>
            </a:r>
            <a:r>
              <a:rPr dirty="0"/>
              <a:t> </a:t>
            </a:r>
            <a:r>
              <a:rPr dirty="0" err="1"/>
              <a:t>기준·기간</a:t>
            </a:r>
            <a:r>
              <a:rPr dirty="0"/>
              <a:t>)</a:t>
            </a:r>
            <a:r>
              <a:rPr dirty="0" err="1"/>
              <a:t>를</a:t>
            </a:r>
            <a:r>
              <a:rPr dirty="0"/>
              <a:t> </a:t>
            </a:r>
            <a:r>
              <a:rPr dirty="0" err="1"/>
              <a:t>먼저</a:t>
            </a:r>
            <a:r>
              <a:rPr dirty="0"/>
              <a:t> </a:t>
            </a:r>
            <a:r>
              <a:rPr dirty="0" err="1"/>
              <a:t>고정한</a:t>
            </a:r>
            <a:r>
              <a:rPr dirty="0"/>
              <a:t> </a:t>
            </a:r>
            <a:r>
              <a:rPr dirty="0" err="1"/>
              <a:t>뒤</a:t>
            </a:r>
            <a:r>
              <a:rPr dirty="0"/>
              <a:t> </a:t>
            </a:r>
            <a:r>
              <a:rPr dirty="0" err="1"/>
              <a:t>측정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사용자</a:t>
            </a:r>
            <a:r>
              <a:rPr dirty="0"/>
              <a:t> </a:t>
            </a:r>
            <a:r>
              <a:rPr dirty="0" err="1"/>
              <a:t>제공</a:t>
            </a:r>
            <a:r>
              <a:rPr dirty="0"/>
              <a:t> </a:t>
            </a:r>
            <a:r>
              <a:rPr dirty="0" err="1"/>
              <a:t>시나리오</a:t>
            </a:r>
            <a:r>
              <a:rPr dirty="0"/>
              <a:t> </a:t>
            </a:r>
            <a:r>
              <a:rPr dirty="0" err="1"/>
              <a:t>이미지</a:t>
            </a:r>
            <a:r>
              <a:rPr dirty="0"/>
              <a:t>: /Users/</a:t>
            </a:r>
            <a:r>
              <a:rPr dirty="0" err="1"/>
              <a:t>baebae</a:t>
            </a:r>
            <a:r>
              <a:rPr dirty="0"/>
              <a:t>/Desktop/</a:t>
            </a:r>
            <a:r>
              <a:rPr dirty="0" err="1"/>
              <a:t>기획발표</a:t>
            </a:r>
            <a:r>
              <a:rPr dirty="0"/>
              <a:t>/</a:t>
            </a:r>
            <a:r>
              <a:rPr dirty="0" err="1"/>
              <a:t>팀원의</a:t>
            </a:r>
            <a:r>
              <a:rPr dirty="0"/>
              <a:t> </a:t>
            </a:r>
            <a:r>
              <a:rPr dirty="0" err="1"/>
              <a:t>사용시나리오.png</a:t>
            </a:r>
            <a:endParaRPr dirty="0"/>
          </a:p>
          <a:p>
            <a:r>
              <a:rPr dirty="0"/>
              <a:t>- 6번 </a:t>
            </a:r>
            <a:r>
              <a:rPr dirty="0" err="1"/>
              <a:t>항목</a:t>
            </a:r>
            <a:r>
              <a:rPr dirty="0"/>
              <a:t> </a:t>
            </a:r>
            <a:r>
              <a:rPr dirty="0" err="1"/>
              <a:t>제목은</a:t>
            </a:r>
            <a:r>
              <a:rPr dirty="0"/>
              <a:t> </a:t>
            </a:r>
            <a:r>
              <a:rPr dirty="0" err="1"/>
              <a:t>사용자의</a:t>
            </a:r>
            <a:r>
              <a:rPr dirty="0"/>
              <a:t> </a:t>
            </a:r>
            <a:r>
              <a:rPr dirty="0" err="1"/>
              <a:t>요청에</a:t>
            </a:r>
            <a:r>
              <a:rPr dirty="0"/>
              <a:t> </a:t>
            </a:r>
            <a:r>
              <a:rPr dirty="0" err="1"/>
              <a:t>따라</a:t>
            </a:r>
            <a:r>
              <a:rPr dirty="0"/>
              <a:t> “</a:t>
            </a:r>
            <a:r>
              <a:rPr dirty="0" err="1"/>
              <a:t>수시”를</a:t>
            </a:r>
            <a:r>
              <a:rPr dirty="0"/>
              <a:t> “</a:t>
            </a:r>
            <a:r>
              <a:rPr dirty="0" err="1"/>
              <a:t>분석</a:t>
            </a:r>
            <a:r>
              <a:rPr dirty="0"/>
              <a:t>(</a:t>
            </a:r>
            <a:r>
              <a:rPr dirty="0" err="1"/>
              <a:t>보고,매출</a:t>
            </a:r>
            <a:r>
              <a:rPr dirty="0"/>
              <a:t>)”</a:t>
            </a:r>
            <a:r>
              <a:rPr dirty="0" err="1"/>
              <a:t>로</a:t>
            </a:r>
            <a:r>
              <a:rPr dirty="0"/>
              <a:t> </a:t>
            </a:r>
            <a:r>
              <a:rPr dirty="0" err="1"/>
              <a:t>수정함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팀원은</a:t>
            </a:r>
            <a:r>
              <a:rPr dirty="0"/>
              <a:t> </a:t>
            </a:r>
            <a:r>
              <a:rPr dirty="0" err="1"/>
              <a:t>우선순위</a:t>
            </a:r>
            <a:r>
              <a:rPr dirty="0"/>
              <a:t> </a:t>
            </a:r>
            <a:r>
              <a:rPr dirty="0" err="1"/>
              <a:t>확인</a:t>
            </a:r>
            <a:r>
              <a:rPr dirty="0"/>
              <a:t> → </a:t>
            </a:r>
            <a:r>
              <a:rPr dirty="0" err="1"/>
              <a:t>미팅</a:t>
            </a:r>
            <a:r>
              <a:rPr dirty="0"/>
              <a:t> </a:t>
            </a:r>
            <a:r>
              <a:rPr dirty="0" err="1"/>
              <a:t>브리핑</a:t>
            </a:r>
            <a:r>
              <a:rPr dirty="0"/>
              <a:t> → </a:t>
            </a:r>
            <a:r>
              <a:rPr dirty="0" err="1"/>
              <a:t>보고서</a:t>
            </a:r>
            <a:r>
              <a:rPr dirty="0"/>
              <a:t> </a:t>
            </a:r>
            <a:r>
              <a:rPr dirty="0" err="1"/>
              <a:t>작성</a:t>
            </a:r>
            <a:r>
              <a:rPr dirty="0"/>
              <a:t> → </a:t>
            </a:r>
            <a:r>
              <a:rPr dirty="0" err="1"/>
              <a:t>사용자</a:t>
            </a:r>
            <a:r>
              <a:rPr dirty="0"/>
              <a:t> </a:t>
            </a:r>
            <a:r>
              <a:rPr dirty="0" err="1"/>
              <a:t>확정</a:t>
            </a:r>
            <a:r>
              <a:rPr dirty="0"/>
              <a:t> → </a:t>
            </a:r>
            <a:r>
              <a:rPr dirty="0" err="1"/>
              <a:t>정보</a:t>
            </a:r>
            <a:r>
              <a:rPr dirty="0"/>
              <a:t> </a:t>
            </a:r>
            <a:r>
              <a:rPr dirty="0" err="1"/>
              <a:t>반영의</a:t>
            </a:r>
            <a:r>
              <a:rPr dirty="0"/>
              <a:t> </a:t>
            </a:r>
            <a:r>
              <a:rPr dirty="0" err="1"/>
              <a:t>흐름으로</a:t>
            </a:r>
            <a:r>
              <a:rPr dirty="0"/>
              <a:t> </a:t>
            </a:r>
            <a:r>
              <a:rPr dirty="0" err="1"/>
              <a:t>업무를</a:t>
            </a:r>
            <a:r>
              <a:rPr dirty="0"/>
              <a:t> </a:t>
            </a:r>
            <a:r>
              <a:rPr dirty="0" err="1"/>
              <a:t>진행한다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사용자</a:t>
            </a:r>
            <a:r>
              <a:rPr dirty="0"/>
              <a:t> </a:t>
            </a:r>
            <a:r>
              <a:rPr dirty="0" err="1"/>
              <a:t>제공</a:t>
            </a:r>
            <a:r>
              <a:rPr dirty="0"/>
              <a:t> </a:t>
            </a:r>
            <a:r>
              <a:rPr dirty="0" err="1"/>
              <a:t>시나리오</a:t>
            </a:r>
            <a:r>
              <a:rPr dirty="0"/>
              <a:t> </a:t>
            </a:r>
            <a:r>
              <a:rPr dirty="0" err="1"/>
              <a:t>이미지</a:t>
            </a:r>
            <a:r>
              <a:rPr dirty="0"/>
              <a:t>: /Users/</a:t>
            </a:r>
            <a:r>
              <a:rPr dirty="0" err="1"/>
              <a:t>baebae</a:t>
            </a:r>
            <a:r>
              <a:rPr dirty="0"/>
              <a:t>/Desktop/</a:t>
            </a:r>
            <a:r>
              <a:rPr dirty="0" err="1"/>
              <a:t>기획발표</a:t>
            </a:r>
            <a:r>
              <a:rPr dirty="0"/>
              <a:t>/</a:t>
            </a:r>
            <a:r>
              <a:rPr dirty="0" err="1"/>
              <a:t>팀장의</a:t>
            </a:r>
            <a:r>
              <a:rPr dirty="0"/>
              <a:t> </a:t>
            </a:r>
            <a:r>
              <a:rPr dirty="0" err="1"/>
              <a:t>사용시나리오.png</a:t>
            </a:r>
            <a:endParaRPr dirty="0"/>
          </a:p>
          <a:p>
            <a:r>
              <a:rPr dirty="0"/>
              <a:t>- 6번 </a:t>
            </a:r>
            <a:r>
              <a:rPr dirty="0" err="1"/>
              <a:t>항목</a:t>
            </a:r>
            <a:r>
              <a:rPr dirty="0"/>
              <a:t> </a:t>
            </a:r>
            <a:r>
              <a:rPr dirty="0" err="1"/>
              <a:t>제목은</a:t>
            </a:r>
            <a:r>
              <a:rPr dirty="0"/>
              <a:t> </a:t>
            </a:r>
            <a:r>
              <a:rPr dirty="0" err="1"/>
              <a:t>사용자의</a:t>
            </a:r>
            <a:r>
              <a:rPr dirty="0"/>
              <a:t> </a:t>
            </a:r>
            <a:r>
              <a:rPr dirty="0" err="1"/>
              <a:t>요청에</a:t>
            </a:r>
            <a:r>
              <a:rPr dirty="0"/>
              <a:t> </a:t>
            </a:r>
            <a:r>
              <a:rPr dirty="0" err="1"/>
              <a:t>따라</a:t>
            </a:r>
            <a:r>
              <a:rPr dirty="0"/>
              <a:t> “</a:t>
            </a:r>
            <a:r>
              <a:rPr dirty="0" err="1"/>
              <a:t>수시”를</a:t>
            </a:r>
            <a:r>
              <a:rPr dirty="0"/>
              <a:t> “</a:t>
            </a:r>
            <a:r>
              <a:rPr dirty="0" err="1"/>
              <a:t>분석</a:t>
            </a:r>
            <a:r>
              <a:rPr dirty="0"/>
              <a:t>(</a:t>
            </a:r>
            <a:r>
              <a:rPr dirty="0" err="1"/>
              <a:t>보고,매출</a:t>
            </a:r>
            <a:r>
              <a:rPr dirty="0"/>
              <a:t>)”</a:t>
            </a:r>
            <a:r>
              <a:rPr dirty="0" err="1"/>
              <a:t>로</a:t>
            </a:r>
            <a:r>
              <a:rPr dirty="0"/>
              <a:t> </a:t>
            </a:r>
            <a:r>
              <a:rPr dirty="0" err="1"/>
              <a:t>수정함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팀장은</a:t>
            </a:r>
            <a:r>
              <a:rPr dirty="0"/>
              <a:t> </a:t>
            </a:r>
            <a:r>
              <a:rPr dirty="0" err="1"/>
              <a:t>팀</a:t>
            </a:r>
            <a:r>
              <a:rPr dirty="0"/>
              <a:t> </a:t>
            </a:r>
            <a:r>
              <a:rPr dirty="0" err="1"/>
              <a:t>브리핑</a:t>
            </a:r>
            <a:r>
              <a:rPr dirty="0"/>
              <a:t> → </a:t>
            </a:r>
            <a:r>
              <a:rPr dirty="0" err="1"/>
              <a:t>보고</a:t>
            </a:r>
            <a:r>
              <a:rPr dirty="0"/>
              <a:t> </a:t>
            </a:r>
            <a:r>
              <a:rPr dirty="0" err="1"/>
              <a:t>현황</a:t>
            </a:r>
            <a:r>
              <a:rPr dirty="0"/>
              <a:t> → </a:t>
            </a:r>
            <a:r>
              <a:rPr dirty="0" err="1"/>
              <a:t>보고서</a:t>
            </a:r>
            <a:r>
              <a:rPr dirty="0"/>
              <a:t> </a:t>
            </a:r>
            <a:r>
              <a:rPr dirty="0" err="1"/>
              <a:t>검토</a:t>
            </a:r>
            <a:r>
              <a:rPr dirty="0"/>
              <a:t> → </a:t>
            </a:r>
            <a:r>
              <a:rPr dirty="0" err="1"/>
              <a:t>매출</a:t>
            </a:r>
            <a:r>
              <a:rPr dirty="0"/>
              <a:t> </a:t>
            </a:r>
            <a:r>
              <a:rPr dirty="0" err="1"/>
              <a:t>관리</a:t>
            </a:r>
            <a:r>
              <a:rPr dirty="0"/>
              <a:t> → </a:t>
            </a:r>
            <a:r>
              <a:rPr dirty="0" err="1"/>
              <a:t>목표</a:t>
            </a:r>
            <a:r>
              <a:rPr dirty="0"/>
              <a:t> </a:t>
            </a:r>
            <a:r>
              <a:rPr dirty="0" err="1"/>
              <a:t>조정</a:t>
            </a:r>
            <a:r>
              <a:rPr dirty="0"/>
              <a:t> → </a:t>
            </a:r>
            <a:r>
              <a:rPr dirty="0" err="1"/>
              <a:t>팀</a:t>
            </a:r>
            <a:r>
              <a:rPr dirty="0"/>
              <a:t> </a:t>
            </a:r>
            <a:r>
              <a:rPr dirty="0" err="1"/>
              <a:t>범위</a:t>
            </a:r>
            <a:r>
              <a:rPr dirty="0"/>
              <a:t> </a:t>
            </a:r>
            <a:r>
              <a:rPr dirty="0" err="1"/>
              <a:t>분석의</a:t>
            </a:r>
            <a:r>
              <a:rPr dirty="0"/>
              <a:t> </a:t>
            </a:r>
            <a:r>
              <a:rPr dirty="0" err="1"/>
              <a:t>흐름으로</a:t>
            </a:r>
            <a:r>
              <a:rPr dirty="0"/>
              <a:t> </a:t>
            </a:r>
            <a:r>
              <a:rPr dirty="0" err="1"/>
              <a:t>관리한다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124702B0-270D-4ED9-98A8-13D89638BB4B}"/>
              </a:ext>
            </a:extLst>
          </p:cNvPr>
          <p:cNvSpPr>
            <a:spLocks noGrp="1"/>
          </p:cNvSpPr>
          <p:nvPr/>
        </p:nvSpPr>
        <p:spPr>
          <a:xfrm>
            <a:off x="7334250" y="0"/>
            <a:ext cx="4857750" cy="48577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D74DA">
                  <a:alpha val="30000"/>
                </a:srgbClr>
              </a:gs>
              <a:gs pos="72000">
                <a:srgbClr val="12355B">
                  <a:alpha val="0"/>
                </a:srgbClr>
              </a:gs>
            </a:gsLst>
            <a:path path="shape"/>
          </a:gra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0CAB163-CB8F-4A46-AF41-F44EE28AA153}"/>
              </a:ext>
            </a:extLst>
          </p:cNvPr>
          <p:cNvSpPr>
            <a:spLocks noGrp="1"/>
          </p:cNvSpPr>
          <p:nvPr/>
        </p:nvSpPr>
        <p:spPr>
          <a:xfrm>
            <a:off x="666750" y="1219200"/>
            <a:ext cx="7810500" cy="990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570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70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rPr>
              <a:t>SalesLuv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0BE3EF6-49D5-4449-BE12-8FE8B6E2FED5}"/>
              </a:ext>
            </a:extLst>
          </p:cNvPr>
          <p:cNvSpPr>
            <a:spLocks noGrp="1"/>
          </p:cNvSpPr>
          <p:nvPr/>
        </p:nvSpPr>
        <p:spPr>
          <a:xfrm>
            <a:off x="723900" y="2362200"/>
            <a:ext cx="7239000" cy="1190625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315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rPr>
              <a:t>영업의 흐름을 연결하고</a:t>
            </a:r>
          </a:p>
          <a:p>
            <a:pPr algn="l">
              <a:lnSpc>
                <a:spcPct val="98000"/>
              </a:lnSpc>
              <a:buNone/>
              <a:defRPr sz="315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rPr>
              <a:t>다음 행동을 제안하는 CRM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0564775-55CD-4269-8E00-33BE2532E35E}"/>
              </a:ext>
            </a:extLst>
          </p:cNvPr>
          <p:cNvSpPr>
            <a:spLocks noGrp="1"/>
          </p:cNvSpPr>
          <p:nvPr/>
        </p:nvSpPr>
        <p:spPr>
          <a:xfrm>
            <a:off x="742950" y="3857625"/>
            <a:ext cx="3619500" cy="3238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D9E7F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D9E7FA"/>
                </a:solidFill>
                <a:latin typeface="Apple SD Gothic Neo"/>
                <a:ea typeface="Apple SD Gothic Neo"/>
                <a:cs typeface="Apple SD Gothic Neo"/>
              </a:rPr>
              <a:t>카스테라(Cass Terra)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AE7D02E-E56B-4D42-BD1B-6B9FCCDEB871}"/>
              </a:ext>
            </a:extLst>
          </p:cNvPr>
          <p:cNvSpPr>
            <a:spLocks noGrp="1"/>
          </p:cNvSpPr>
          <p:nvPr/>
        </p:nvSpPr>
        <p:spPr>
          <a:xfrm>
            <a:off x="742950" y="4248150"/>
            <a:ext cx="3429000" cy="22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AFC0D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FC0D2"/>
                </a:solidFill>
                <a:latin typeface="Apple SD Gothic Neo"/>
                <a:ea typeface="Apple SD Gothic Neo"/>
                <a:cs typeface="Apple SD Gothic Neo"/>
              </a:rPr>
              <a:t>기획발표 · 2026.08</a:t>
            </a: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79B76306-AFC7-417A-A807-CCD58507A055}"/>
              </a:ext>
            </a:extLst>
          </p:cNvPr>
          <p:cNvSpPr>
            <a:spLocks noGrp="1"/>
          </p:cNvSpPr>
          <p:nvPr/>
        </p:nvSpPr>
        <p:spPr>
          <a:xfrm>
            <a:off x="8096250" y="1714500"/>
            <a:ext cx="2857500" cy="2667000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 w="9525">
            <a:solidFill>
              <a:srgbClr val="2D74D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2203238-A925-4579-A74F-943BB0C667FF}"/>
              </a:ext>
            </a:extLst>
          </p:cNvPr>
          <p:cNvSpPr>
            <a:spLocks noGrp="1"/>
          </p:cNvSpPr>
          <p:nvPr/>
        </p:nvSpPr>
        <p:spPr>
          <a:xfrm>
            <a:off x="8429625" y="2133600"/>
            <a:ext cx="2190750" cy="7239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1800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rPr>
              <a:t>여러 딜 중</a:t>
            </a:r>
          </a:p>
          <a:p>
            <a:pPr algn="ctr">
              <a:lnSpc>
                <a:spcPct val="98000"/>
              </a:lnSpc>
              <a:buNone/>
              <a:defRPr sz="1800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rPr>
              <a:t>오늘 무엇을 먼저 할지</a:t>
            </a:r>
          </a:p>
        </p:txBody>
      </p:sp>
      <p:sp>
        <p:nvSpPr>
          <p:cNvPr id="8" name="직선 연결선[R] 7">
            <a:extLst>
              <a:ext uri="{FF2B5EF4-FFF2-40B4-BE49-F238E27FC236}">
                <a16:creationId xmlns:a16="http://schemas.microsoft.com/office/drawing/2014/main" id="{B952EE87-63E7-426C-ADEB-20F2E30D653A}"/>
              </a:ext>
            </a:extLst>
          </p:cNvPr>
          <p:cNvSpPr>
            <a:spLocks noGrp="1"/>
          </p:cNvSpPr>
          <p:nvPr/>
        </p:nvSpPr>
        <p:spPr>
          <a:xfrm>
            <a:off x="8524875" y="3143250"/>
            <a:ext cx="2000250" cy="0"/>
          </a:xfrm>
          <a:prstGeom prst="line">
            <a:avLst/>
          </a:prstGeom>
          <a:noFill/>
          <a:ln w="19050">
            <a:solidFill>
              <a:srgbClr val="D7DE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9195344A-8F49-4DE5-92A4-E0CAAFD29599}"/>
              </a:ext>
            </a:extLst>
          </p:cNvPr>
          <p:cNvSpPr>
            <a:spLocks noGrp="1"/>
          </p:cNvSpPr>
          <p:nvPr/>
        </p:nvSpPr>
        <p:spPr>
          <a:xfrm>
            <a:off x="8429625" y="3448050"/>
            <a:ext cx="895350" cy="285750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A5409A7-549E-4CC0-9EAE-56C46376AB5D}"/>
              </a:ext>
            </a:extLst>
          </p:cNvPr>
          <p:cNvSpPr>
            <a:spLocks noGrp="1"/>
          </p:cNvSpPr>
          <p:nvPr/>
        </p:nvSpPr>
        <p:spPr>
          <a:xfrm>
            <a:off x="8524875" y="3505200"/>
            <a:ext cx="704850" cy="1714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97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우선순위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F265EE11-837E-4F72-B0B9-C491AC7C3AA7}"/>
              </a:ext>
            </a:extLst>
          </p:cNvPr>
          <p:cNvSpPr>
            <a:spLocks noGrp="1"/>
          </p:cNvSpPr>
          <p:nvPr/>
        </p:nvSpPr>
        <p:spPr>
          <a:xfrm>
            <a:off x="9410700" y="3448050"/>
            <a:ext cx="971550" cy="285750"/>
          </a:xfrm>
          <a:prstGeom prst="roundRect">
            <a:avLst>
              <a:gd name="adj" fmla="val 50000"/>
            </a:avLst>
          </a:prstGeom>
          <a:solidFill>
            <a:srgbClr val="EAF7F5"/>
          </a:solidFill>
          <a:ln w="9525">
            <a:solidFill>
              <a:srgbClr val="EAF7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EEB0938-EE23-4357-8ECD-3C205211E159}"/>
              </a:ext>
            </a:extLst>
          </p:cNvPr>
          <p:cNvSpPr>
            <a:spLocks noGrp="1"/>
          </p:cNvSpPr>
          <p:nvPr/>
        </p:nvSpPr>
        <p:spPr>
          <a:xfrm>
            <a:off x="9505950" y="3505200"/>
            <a:ext cx="781050" cy="1714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975" b="1">
                <a:solidFill>
                  <a:srgbClr val="277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77B63"/>
                </a:solidFill>
                <a:latin typeface="Apple SD Gothic Neo"/>
                <a:ea typeface="Apple SD Gothic Neo"/>
                <a:cs typeface="Apple SD Gothic Neo"/>
              </a:rPr>
              <a:t>미팅 준비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44C967CE-9D08-45AE-A4DE-3011472D1290}"/>
              </a:ext>
            </a:extLst>
          </p:cNvPr>
          <p:cNvSpPr>
            <a:spLocks noGrp="1"/>
          </p:cNvSpPr>
          <p:nvPr/>
        </p:nvSpPr>
        <p:spPr>
          <a:xfrm>
            <a:off x="8429625" y="3857625"/>
            <a:ext cx="895350" cy="285750"/>
          </a:xfrm>
          <a:prstGeom prst="roundRect">
            <a:avLst>
              <a:gd name="adj" fmla="val 50000"/>
            </a:avLst>
          </a:prstGeom>
          <a:solidFill>
            <a:srgbClr val="FFF8DE"/>
          </a:solidFill>
          <a:ln w="9525">
            <a:solidFill>
              <a:srgbClr val="FFF8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3E32657-BA8E-43F2-8BB3-A56DB5039BEA}"/>
              </a:ext>
            </a:extLst>
          </p:cNvPr>
          <p:cNvSpPr>
            <a:spLocks noGrp="1"/>
          </p:cNvSpPr>
          <p:nvPr/>
        </p:nvSpPr>
        <p:spPr>
          <a:xfrm>
            <a:off x="8524875" y="3914775"/>
            <a:ext cx="704850" cy="1714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975" b="1">
                <a:solidFill>
                  <a:srgbClr val="9A6B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9A6B00"/>
                </a:solidFill>
                <a:latin typeface="Apple SD Gothic Neo"/>
                <a:ea typeface="Apple SD Gothic Neo"/>
                <a:cs typeface="Apple SD Gothic Neo"/>
              </a:rPr>
              <a:t>후속 기록</a:t>
            </a: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C1CED414-6269-463E-B1E6-A258F624A221}"/>
              </a:ext>
            </a:extLst>
          </p:cNvPr>
          <p:cNvSpPr>
            <a:spLocks noGrp="1"/>
          </p:cNvSpPr>
          <p:nvPr/>
        </p:nvSpPr>
        <p:spPr>
          <a:xfrm>
            <a:off x="9410700" y="3857625"/>
            <a:ext cx="971550" cy="285750"/>
          </a:xfrm>
          <a:prstGeom prst="roundRect">
            <a:avLst>
              <a:gd name="adj" fmla="val 50000"/>
            </a:avLst>
          </a:prstGeom>
          <a:solidFill>
            <a:srgbClr val="FFF0EC"/>
          </a:solidFill>
          <a:ln w="9525">
            <a:solidFill>
              <a:srgbClr val="FFF0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3A2834A-18DF-4BB4-B310-295323A2F0BB}"/>
              </a:ext>
            </a:extLst>
          </p:cNvPr>
          <p:cNvSpPr>
            <a:spLocks noGrp="1"/>
          </p:cNvSpPr>
          <p:nvPr/>
        </p:nvSpPr>
        <p:spPr>
          <a:xfrm>
            <a:off x="9505950" y="3914775"/>
            <a:ext cx="781050" cy="1714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975" b="1">
                <a:solidFill>
                  <a:srgbClr val="B9473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B94735"/>
                </a:solidFill>
                <a:latin typeface="Apple SD Gothic Neo"/>
                <a:ea typeface="Apple SD Gothic Neo"/>
                <a:cs typeface="Apple SD Gothic Neo"/>
              </a:rPr>
              <a:t>승인 반영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D54C0B9-0F34-48A4-AD9A-852B477094C9}"/>
              </a:ext>
            </a:extLst>
          </p:cNvPr>
          <p:cNvSpPr>
            <a:spLocks noGrp="1"/>
          </p:cNvSpPr>
          <p:nvPr/>
        </p:nvSpPr>
        <p:spPr>
          <a:xfrm>
            <a:off x="8420100" y="4619625"/>
            <a:ext cx="2857500" cy="5524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125" b="0">
                <a:solidFill>
                  <a:srgbClr val="DCE8F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DCE8F5"/>
                </a:solidFill>
                <a:latin typeface="Apple SD Gothic Neo"/>
                <a:ea typeface="Apple SD Gothic Neo"/>
                <a:cs typeface="Apple SD Gothic Neo"/>
              </a:rPr>
              <a:t>기존 CRM의 불편함을</a:t>
            </a:r>
          </a:p>
          <a:p>
            <a:pPr algn="ctr">
              <a:lnSpc>
                <a:spcPct val="108000"/>
              </a:lnSpc>
              <a:buNone/>
              <a:defRPr sz="1125" b="0">
                <a:solidFill>
                  <a:srgbClr val="DCE8F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DCE8F5"/>
                </a:solidFill>
                <a:latin typeface="Apple SD Gothic Neo"/>
                <a:ea typeface="Apple SD Gothic Neo"/>
                <a:cs typeface="Apple SD Gothic Neo"/>
              </a:rPr>
              <a:t>영업 업무 흐름으로 다시 설계</a:t>
            </a:r>
          </a:p>
        </p:txBody>
      </p:sp>
    </p:spTree>
    <p:extLst>
      <p:ext uri="{BB962C8B-B14F-4D97-AF65-F5344CB8AC3E}">
        <p14:creationId xmlns:p14="http://schemas.microsoft.com/office/powerpoint/2010/main" val="530112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785EB922-AE15-46D9-BC55-DB34EA9D840E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857250" cy="2476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00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0989F6E-375E-4C38-B872-1636409F4851}"/>
              </a:ext>
            </a:extLst>
          </p:cNvPr>
          <p:cNvSpPr>
            <a:spLocks noGrp="1"/>
          </p:cNvSpPr>
          <p:nvPr/>
        </p:nvSpPr>
        <p:spPr>
          <a:xfrm>
            <a:off x="647700" y="666750"/>
            <a:ext cx="9906000" cy="5143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70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목차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AF0E03A-95E4-45C2-A812-075487C9F942}"/>
              </a:ext>
            </a:extLst>
          </p:cNvPr>
          <p:cNvSpPr>
            <a:spLocks noGrp="1"/>
          </p:cNvSpPr>
          <p:nvPr/>
        </p:nvSpPr>
        <p:spPr>
          <a:xfrm>
            <a:off x="666750" y="1238250"/>
            <a:ext cx="10287000" cy="304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문제에서 시작해, 시장·기능·사용 시나리오·효과로 연결합니다.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C652DCBD-4F3E-46D6-8EEE-0FA7C3B7D167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10896600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0A95C23A-82D7-423F-A7FE-4B4DB8B5DB8A}"/>
              </a:ext>
            </a:extLst>
          </p:cNvPr>
          <p:cNvSpPr>
            <a:spLocks noGrp="1"/>
          </p:cNvSpPr>
          <p:nvPr/>
        </p:nvSpPr>
        <p:spPr>
          <a:xfrm>
            <a:off x="857250" y="2076450"/>
            <a:ext cx="4953000" cy="742950"/>
          </a:xfrm>
          <a:prstGeom prst="roundRect">
            <a:avLst>
              <a:gd name="adj" fmla="val 25641"/>
            </a:avLst>
          </a:prstGeom>
          <a:solidFill>
            <a:srgbClr val="12355B"/>
          </a:solidFill>
          <a:ln w="9525">
            <a:solidFill>
              <a:srgbClr val="12355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8CE32D0-62E1-4FC0-A6B2-1BB1E8F5622A}"/>
              </a:ext>
            </a:extLst>
          </p:cNvPr>
          <p:cNvSpPr>
            <a:spLocks noGrp="1"/>
          </p:cNvSpPr>
          <p:nvPr/>
        </p:nvSpPr>
        <p:spPr>
          <a:xfrm>
            <a:off x="1085850" y="2266950"/>
            <a:ext cx="400050" cy="2667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F4C9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4C95D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C976B2B-BF51-4030-B9C2-23C728B7369E}"/>
              </a:ext>
            </a:extLst>
          </p:cNvPr>
          <p:cNvSpPr>
            <a:spLocks noGrp="1"/>
          </p:cNvSpPr>
          <p:nvPr/>
        </p:nvSpPr>
        <p:spPr>
          <a:xfrm>
            <a:off x="1695450" y="2228850"/>
            <a:ext cx="3429000" cy="2667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98204"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rPr>
              <a:t>프로젝트 주제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8A1C408-7A8C-4746-BE62-AFEF00F23DED}"/>
              </a:ext>
            </a:extLst>
          </p:cNvPr>
          <p:cNvSpPr>
            <a:spLocks noGrp="1"/>
          </p:cNvSpPr>
          <p:nvPr/>
        </p:nvSpPr>
        <p:spPr>
          <a:xfrm>
            <a:off x="1695450" y="2533650"/>
            <a:ext cx="3429000" cy="1905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D7E6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D7E6F8"/>
                </a:solidFill>
                <a:latin typeface="Apple SD Gothic Neo"/>
                <a:ea typeface="Apple SD Gothic Neo"/>
                <a:cs typeface="Apple SD Gothic Neo"/>
              </a:rPr>
              <a:t>무엇을 바꾸려는가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6FF2CE8F-C905-461B-AD8F-EEBE85BD8B88}"/>
              </a:ext>
            </a:extLst>
          </p:cNvPr>
          <p:cNvSpPr>
            <a:spLocks noGrp="1"/>
          </p:cNvSpPr>
          <p:nvPr/>
        </p:nvSpPr>
        <p:spPr>
          <a:xfrm>
            <a:off x="6286500" y="2076450"/>
            <a:ext cx="4953000" cy="742950"/>
          </a:xfrm>
          <a:prstGeom prst="roundRect">
            <a:avLst>
              <a:gd name="adj" fmla="val 25641"/>
            </a:avLst>
          </a:prstGeom>
          <a:solidFill>
            <a:srgbClr val="FFFDF8"/>
          </a:solidFill>
          <a:ln w="9525">
            <a:solidFill>
              <a:srgbClr val="D7DE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B82E487-9035-4BA2-960F-DAF319A0FB94}"/>
              </a:ext>
            </a:extLst>
          </p:cNvPr>
          <p:cNvSpPr>
            <a:spLocks noGrp="1"/>
          </p:cNvSpPr>
          <p:nvPr/>
        </p:nvSpPr>
        <p:spPr>
          <a:xfrm>
            <a:off x="6515100" y="2266950"/>
            <a:ext cx="400050" cy="2667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CAF7443-A3B7-4747-B3D5-D298C90BF72B}"/>
              </a:ext>
            </a:extLst>
          </p:cNvPr>
          <p:cNvSpPr>
            <a:spLocks noGrp="1"/>
          </p:cNvSpPr>
          <p:nvPr/>
        </p:nvSpPr>
        <p:spPr>
          <a:xfrm>
            <a:off x="7124700" y="2228850"/>
            <a:ext cx="3429000" cy="2667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98204"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문제정의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6E1B99A-6895-4149-B75C-684C03C885B1}"/>
              </a:ext>
            </a:extLst>
          </p:cNvPr>
          <p:cNvSpPr>
            <a:spLocks noGrp="1"/>
          </p:cNvSpPr>
          <p:nvPr/>
        </p:nvSpPr>
        <p:spPr>
          <a:xfrm>
            <a:off x="7124700" y="2533650"/>
            <a:ext cx="3429000" cy="1905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누가 어떤 손실을 겪는가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C40FFA90-9724-4194-8394-92DD6641541A}"/>
              </a:ext>
            </a:extLst>
          </p:cNvPr>
          <p:cNvSpPr>
            <a:spLocks noGrp="1"/>
          </p:cNvSpPr>
          <p:nvPr/>
        </p:nvSpPr>
        <p:spPr>
          <a:xfrm>
            <a:off x="857250" y="3076575"/>
            <a:ext cx="4953000" cy="742950"/>
          </a:xfrm>
          <a:prstGeom prst="roundRect">
            <a:avLst>
              <a:gd name="adj" fmla="val 25641"/>
            </a:avLst>
          </a:prstGeom>
          <a:solidFill>
            <a:srgbClr val="FFFDF8"/>
          </a:solidFill>
          <a:ln w="9525">
            <a:solidFill>
              <a:srgbClr val="D7DE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82B376B-B227-4104-95CC-8D3288373F8B}"/>
              </a:ext>
            </a:extLst>
          </p:cNvPr>
          <p:cNvSpPr>
            <a:spLocks noGrp="1"/>
          </p:cNvSpPr>
          <p:nvPr/>
        </p:nvSpPr>
        <p:spPr>
          <a:xfrm>
            <a:off x="1085850" y="3267075"/>
            <a:ext cx="400050" cy="2667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99987F3-B10E-47B7-949D-AC630D0119C6}"/>
              </a:ext>
            </a:extLst>
          </p:cNvPr>
          <p:cNvSpPr>
            <a:spLocks noGrp="1"/>
          </p:cNvSpPr>
          <p:nvPr/>
        </p:nvSpPr>
        <p:spPr>
          <a:xfrm>
            <a:off x="1695450" y="3228975"/>
            <a:ext cx="3429000" cy="2667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98204"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선정 근거 · 시장조사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AB1C44C-A284-45BC-B39F-B0740B02294A}"/>
              </a:ext>
            </a:extLst>
          </p:cNvPr>
          <p:cNvSpPr>
            <a:spLocks noGrp="1"/>
          </p:cNvSpPr>
          <p:nvPr/>
        </p:nvSpPr>
        <p:spPr>
          <a:xfrm>
            <a:off x="1695450" y="3533775"/>
            <a:ext cx="3429000" cy="1905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왜 이 시장에서 시작하는가</a:t>
            </a: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C88F080B-AF57-4DDF-B98A-5C465367A7E5}"/>
              </a:ext>
            </a:extLst>
          </p:cNvPr>
          <p:cNvSpPr>
            <a:spLocks noGrp="1"/>
          </p:cNvSpPr>
          <p:nvPr/>
        </p:nvSpPr>
        <p:spPr>
          <a:xfrm>
            <a:off x="6286500" y="3076575"/>
            <a:ext cx="4953000" cy="742950"/>
          </a:xfrm>
          <a:prstGeom prst="roundRect">
            <a:avLst>
              <a:gd name="adj" fmla="val 25641"/>
            </a:avLst>
          </a:prstGeom>
          <a:solidFill>
            <a:srgbClr val="FFFDF8"/>
          </a:solidFill>
          <a:ln w="9525">
            <a:solidFill>
              <a:srgbClr val="D7DE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CFF4BCB-EAE2-4446-B120-84E77D2436D6}"/>
              </a:ext>
            </a:extLst>
          </p:cNvPr>
          <p:cNvSpPr>
            <a:spLocks noGrp="1"/>
          </p:cNvSpPr>
          <p:nvPr/>
        </p:nvSpPr>
        <p:spPr>
          <a:xfrm>
            <a:off x="6515100" y="3267075"/>
            <a:ext cx="400050" cy="2667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2324A60-6FF9-434C-82BE-5114586F9BA8}"/>
              </a:ext>
            </a:extLst>
          </p:cNvPr>
          <p:cNvSpPr>
            <a:spLocks noGrp="1"/>
          </p:cNvSpPr>
          <p:nvPr/>
        </p:nvSpPr>
        <p:spPr>
          <a:xfrm>
            <a:off x="7124700" y="3228975"/>
            <a:ext cx="3429000" cy="2667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98204"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영업흐름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37DD16C-E0D0-412A-A4D1-5B9BE49B8755}"/>
              </a:ext>
            </a:extLst>
          </p:cNvPr>
          <p:cNvSpPr>
            <a:spLocks noGrp="1"/>
          </p:cNvSpPr>
          <p:nvPr/>
        </p:nvSpPr>
        <p:spPr>
          <a:xfrm>
            <a:off x="7124700" y="3533775"/>
            <a:ext cx="3429000" cy="1905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영업이 실제로 흘러가는 방식</a:t>
            </a: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AD02A475-3881-4563-B856-24D0529535D8}"/>
              </a:ext>
            </a:extLst>
          </p:cNvPr>
          <p:cNvSpPr>
            <a:spLocks noGrp="1"/>
          </p:cNvSpPr>
          <p:nvPr/>
        </p:nvSpPr>
        <p:spPr>
          <a:xfrm>
            <a:off x="857250" y="4076700"/>
            <a:ext cx="4953000" cy="742950"/>
          </a:xfrm>
          <a:prstGeom prst="roundRect">
            <a:avLst>
              <a:gd name="adj" fmla="val 25641"/>
            </a:avLst>
          </a:prstGeom>
          <a:solidFill>
            <a:srgbClr val="FFFDF8"/>
          </a:solidFill>
          <a:ln w="9525">
            <a:solidFill>
              <a:srgbClr val="D7DE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C117155-35E8-4077-A2CA-921286F0075F}"/>
              </a:ext>
            </a:extLst>
          </p:cNvPr>
          <p:cNvSpPr>
            <a:spLocks noGrp="1"/>
          </p:cNvSpPr>
          <p:nvPr/>
        </p:nvSpPr>
        <p:spPr>
          <a:xfrm>
            <a:off x="1085850" y="4267200"/>
            <a:ext cx="400050" cy="2667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B420688-BB57-4453-962B-E701452D096B}"/>
              </a:ext>
            </a:extLst>
          </p:cNvPr>
          <p:cNvSpPr>
            <a:spLocks noGrp="1"/>
          </p:cNvSpPr>
          <p:nvPr/>
        </p:nvSpPr>
        <p:spPr>
          <a:xfrm>
            <a:off x="1695450" y="4229100"/>
            <a:ext cx="3429000" cy="2667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98204"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기존 CRM의 단점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5B11190-367B-47F9-805A-7521D801A76B}"/>
              </a:ext>
            </a:extLst>
          </p:cNvPr>
          <p:cNvSpPr>
            <a:spLocks noGrp="1"/>
          </p:cNvSpPr>
          <p:nvPr/>
        </p:nvSpPr>
        <p:spPr>
          <a:xfrm>
            <a:off x="1695450" y="4533900"/>
            <a:ext cx="3429000" cy="1905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기존 방식의 구조적 한계</a:t>
            </a: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7845D985-E658-41C6-93FD-D52010E1CF88}"/>
              </a:ext>
            </a:extLst>
          </p:cNvPr>
          <p:cNvSpPr>
            <a:spLocks noGrp="1"/>
          </p:cNvSpPr>
          <p:nvPr/>
        </p:nvSpPr>
        <p:spPr>
          <a:xfrm>
            <a:off x="6286500" y="4076700"/>
            <a:ext cx="4953000" cy="742950"/>
          </a:xfrm>
          <a:prstGeom prst="roundRect">
            <a:avLst>
              <a:gd name="adj" fmla="val 25641"/>
            </a:avLst>
          </a:prstGeom>
          <a:solidFill>
            <a:srgbClr val="FFFDF8"/>
          </a:solidFill>
          <a:ln w="9525">
            <a:solidFill>
              <a:srgbClr val="D7DE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500D0E9-54F0-413C-800B-F619FB8B3804}"/>
              </a:ext>
            </a:extLst>
          </p:cNvPr>
          <p:cNvSpPr>
            <a:spLocks noGrp="1"/>
          </p:cNvSpPr>
          <p:nvPr/>
        </p:nvSpPr>
        <p:spPr>
          <a:xfrm>
            <a:off x="6515100" y="4267200"/>
            <a:ext cx="400050" cy="2667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5C7FB99-ADAE-481D-A988-A48B079BF503}"/>
              </a:ext>
            </a:extLst>
          </p:cNvPr>
          <p:cNvSpPr>
            <a:spLocks noGrp="1"/>
          </p:cNvSpPr>
          <p:nvPr/>
        </p:nvSpPr>
        <p:spPr>
          <a:xfrm>
            <a:off x="7124700" y="4229100"/>
            <a:ext cx="3429000" cy="2667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98204"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차별화 핵심기능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A1EB569-9369-4233-AC2E-CC3EFCA2D0F8}"/>
              </a:ext>
            </a:extLst>
          </p:cNvPr>
          <p:cNvSpPr>
            <a:spLocks noGrp="1"/>
          </p:cNvSpPr>
          <p:nvPr/>
        </p:nvSpPr>
        <p:spPr>
          <a:xfrm>
            <a:off x="7124700" y="4533900"/>
            <a:ext cx="3429000" cy="1905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SalesLuv가 개입하는 지점</a:t>
            </a:r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E201FC95-D917-4EFF-9853-328FFC5990E3}"/>
              </a:ext>
            </a:extLst>
          </p:cNvPr>
          <p:cNvSpPr>
            <a:spLocks noGrp="1"/>
          </p:cNvSpPr>
          <p:nvPr/>
        </p:nvSpPr>
        <p:spPr>
          <a:xfrm>
            <a:off x="857250" y="5076825"/>
            <a:ext cx="4953000" cy="742950"/>
          </a:xfrm>
          <a:prstGeom prst="roundRect">
            <a:avLst>
              <a:gd name="adj" fmla="val 25641"/>
            </a:avLst>
          </a:prstGeom>
          <a:solidFill>
            <a:srgbClr val="FFFDF8"/>
          </a:solidFill>
          <a:ln w="9525">
            <a:solidFill>
              <a:srgbClr val="D7DE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E492F58-916D-456E-80BE-B932E1F74101}"/>
              </a:ext>
            </a:extLst>
          </p:cNvPr>
          <p:cNvSpPr>
            <a:spLocks noGrp="1"/>
          </p:cNvSpPr>
          <p:nvPr/>
        </p:nvSpPr>
        <p:spPr>
          <a:xfrm>
            <a:off x="1085850" y="5267325"/>
            <a:ext cx="400050" cy="2667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76F50C4-C7B2-4397-BDDF-C9AF7418A30E}"/>
              </a:ext>
            </a:extLst>
          </p:cNvPr>
          <p:cNvSpPr>
            <a:spLocks noGrp="1"/>
          </p:cNvSpPr>
          <p:nvPr/>
        </p:nvSpPr>
        <p:spPr>
          <a:xfrm>
            <a:off x="1695450" y="5229225"/>
            <a:ext cx="3429000" cy="2667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98204"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사용자 시나리오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D400521-6880-40B8-A33E-308AEA80D6EA}"/>
              </a:ext>
            </a:extLst>
          </p:cNvPr>
          <p:cNvSpPr>
            <a:spLocks noGrp="1"/>
          </p:cNvSpPr>
          <p:nvPr/>
        </p:nvSpPr>
        <p:spPr>
          <a:xfrm>
            <a:off x="1695450" y="5534025"/>
            <a:ext cx="3429000" cy="1905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사람과 에이전트의 역할</a:t>
            </a: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14282622-5007-4462-8945-AD897058B8E3}"/>
              </a:ext>
            </a:extLst>
          </p:cNvPr>
          <p:cNvSpPr>
            <a:spLocks noGrp="1"/>
          </p:cNvSpPr>
          <p:nvPr/>
        </p:nvSpPr>
        <p:spPr>
          <a:xfrm>
            <a:off x="6286500" y="5076825"/>
            <a:ext cx="4953000" cy="742950"/>
          </a:xfrm>
          <a:prstGeom prst="roundRect">
            <a:avLst>
              <a:gd name="adj" fmla="val 25641"/>
            </a:avLst>
          </a:prstGeom>
          <a:solidFill>
            <a:srgbClr val="FFFDF8"/>
          </a:solidFill>
          <a:ln w="9525">
            <a:solidFill>
              <a:srgbClr val="D7DE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94DC753-CF9B-42A9-91D7-CB09E642FC7A}"/>
              </a:ext>
            </a:extLst>
          </p:cNvPr>
          <p:cNvSpPr>
            <a:spLocks noGrp="1"/>
          </p:cNvSpPr>
          <p:nvPr/>
        </p:nvSpPr>
        <p:spPr>
          <a:xfrm>
            <a:off x="6515100" y="5267325"/>
            <a:ext cx="400050" cy="2667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304B7F9-C784-45CD-A68A-8E9EB9A947C2}"/>
              </a:ext>
            </a:extLst>
          </p:cNvPr>
          <p:cNvSpPr>
            <a:spLocks noGrp="1"/>
          </p:cNvSpPr>
          <p:nvPr/>
        </p:nvSpPr>
        <p:spPr>
          <a:xfrm>
            <a:off x="7124700" y="5229225"/>
            <a:ext cx="3429000" cy="2667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98204"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기대효과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C00E9E8-6AB9-4FFF-A920-3F4E8A9EBD00}"/>
              </a:ext>
            </a:extLst>
          </p:cNvPr>
          <p:cNvSpPr>
            <a:spLocks noGrp="1"/>
          </p:cNvSpPr>
          <p:nvPr/>
        </p:nvSpPr>
        <p:spPr>
          <a:xfrm>
            <a:off x="7124700" y="5534025"/>
            <a:ext cx="3429000" cy="1905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측정 가능한 변화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DAB9B6A-548C-4C93-8DC6-A1EF13D97C13}"/>
              </a:ext>
            </a:extLst>
          </p:cNvPr>
          <p:cNvSpPr>
            <a:spLocks noGrp="1"/>
          </p:cNvSpPr>
          <p:nvPr/>
        </p:nvSpPr>
        <p:spPr>
          <a:xfrm>
            <a:off x="647700" y="6572250"/>
            <a:ext cx="4000500" cy="1714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82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카스테라(Cass Terra) · SalesLuv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8C339D2-E81D-4825-A28F-2429D5DCDEEB}"/>
              </a:ext>
            </a:extLst>
          </p:cNvPr>
          <p:cNvSpPr>
            <a:spLocks noGrp="1"/>
          </p:cNvSpPr>
          <p:nvPr/>
        </p:nvSpPr>
        <p:spPr>
          <a:xfrm>
            <a:off x="11144250" y="6553200"/>
            <a:ext cx="400050" cy="1714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82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57720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B6825102-160F-45E6-A2B3-77B684EE2399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857250" cy="2476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7CE3721-A62C-4428-8B61-8E731DCBA275}"/>
              </a:ext>
            </a:extLst>
          </p:cNvPr>
          <p:cNvSpPr>
            <a:spLocks noGrp="1"/>
          </p:cNvSpPr>
          <p:nvPr/>
        </p:nvSpPr>
        <p:spPr>
          <a:xfrm>
            <a:off x="647700" y="666750"/>
            <a:ext cx="9906000" cy="5143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70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프로젝트 주제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9C83B98-CC9B-4483-A262-7D0D0640310B}"/>
              </a:ext>
            </a:extLst>
          </p:cNvPr>
          <p:cNvSpPr>
            <a:spLocks noGrp="1"/>
          </p:cNvSpPr>
          <p:nvPr/>
        </p:nvSpPr>
        <p:spPr>
          <a:xfrm>
            <a:off x="666750" y="1238250"/>
            <a:ext cx="10287000" cy="304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SalesLuv는 CRM을 기록 도구에서 영업 판단을 돕는 업무 시스템으로 바꿉니다.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4B7D1DEA-ED3E-4250-AD10-0DC7714B210C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10896600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45CD2F1E-75A5-40E4-A286-3C94C4CF5BB9}"/>
              </a:ext>
            </a:extLst>
          </p:cNvPr>
          <p:cNvSpPr>
            <a:spLocks noGrp="1"/>
          </p:cNvSpPr>
          <p:nvPr/>
        </p:nvSpPr>
        <p:spPr>
          <a:xfrm>
            <a:off x="647700" y="2095500"/>
            <a:ext cx="6191250" cy="28575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9525">
            <a:solidFill>
              <a:srgbClr val="D7DE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A9DE184-F679-4512-9CB9-2C694491A259}"/>
              </a:ext>
            </a:extLst>
          </p:cNvPr>
          <p:cNvSpPr>
            <a:spLocks noGrp="1"/>
          </p:cNvSpPr>
          <p:nvPr/>
        </p:nvSpPr>
        <p:spPr>
          <a:xfrm>
            <a:off x="876300" y="2781300"/>
            <a:ext cx="5429250" cy="8763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92500"/>
          </a:bodyPr>
          <a:lstStyle/>
          <a:p>
            <a:pPr algn="l">
              <a:lnSpc>
                <a:spcPct val="96000"/>
              </a:lnSpc>
              <a:buNone/>
              <a:defRPr sz="2550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 dirty="0" err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rPr>
              <a:t>영업의</a:t>
            </a:r>
            <a:r>
              <a:rPr sz="2550" b="1" dirty="0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550" b="1" dirty="0" err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rPr>
              <a:t>시작부터</a:t>
            </a:r>
            <a:r>
              <a:rPr sz="2550" b="1" dirty="0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550" b="1" dirty="0" err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rPr>
              <a:t>끝까지</a:t>
            </a:r>
            <a:endParaRPr sz="2550" b="1" dirty="0">
              <a:solidFill>
                <a:srgbClr val="12355B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96000"/>
              </a:lnSpc>
              <a:buNone/>
              <a:defRPr sz="2550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 dirty="0" err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rPr>
              <a:t>한번에</a:t>
            </a:r>
            <a:r>
              <a:rPr sz="2550" b="1" dirty="0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550" b="1" dirty="0" err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rPr>
              <a:t>해결하는</a:t>
            </a:r>
            <a:r>
              <a:rPr sz="2550" b="1" dirty="0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550" b="1" dirty="0" err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rPr>
              <a:t>영업특화</a:t>
            </a:r>
            <a:r>
              <a:rPr sz="2550" b="1" dirty="0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2550" b="1" dirty="0" err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rPr>
              <a:t>멀티에이전트</a:t>
            </a:r>
            <a:r>
              <a:rPr sz="2550" b="1" dirty="0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rPr>
              <a:t>CRM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228295-AD22-4B1B-96D7-80982B6D6807}"/>
              </a:ext>
            </a:extLst>
          </p:cNvPr>
          <p:cNvSpPr>
            <a:spLocks noGrp="1"/>
          </p:cNvSpPr>
          <p:nvPr/>
        </p:nvSpPr>
        <p:spPr>
          <a:xfrm>
            <a:off x="895350" y="3943350"/>
            <a:ext cx="4762500" cy="533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담당자 개인에게 남는 고객 맥락을</a:t>
            </a:r>
          </a:p>
          <a:p>
            <a:pPr algn="l">
              <a:lnSpc>
                <a:spcPct val="108000"/>
              </a:lnSpc>
              <a:buNone/>
              <a:defRPr sz="15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팀이 이어받을 수 있는 구조로 만든다.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7C3E00B6-FE18-4D70-BEF6-9B9C85E3FAAF}"/>
              </a:ext>
            </a:extLst>
          </p:cNvPr>
          <p:cNvSpPr>
            <a:spLocks noGrp="1"/>
          </p:cNvSpPr>
          <p:nvPr/>
        </p:nvSpPr>
        <p:spPr>
          <a:xfrm>
            <a:off x="7219950" y="2095500"/>
            <a:ext cx="4324350" cy="2857500"/>
          </a:xfrm>
          <a:prstGeom prst="roundRect">
            <a:avLst>
              <a:gd name="adj" fmla="val 8000"/>
            </a:avLst>
          </a:prstGeom>
          <a:solidFill>
            <a:srgbClr val="12355B"/>
          </a:solidFill>
          <a:ln w="9525">
            <a:solidFill>
              <a:srgbClr val="12355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6B0AEE2-181D-4AE9-9C26-CC287E2F31F8}"/>
              </a:ext>
            </a:extLst>
          </p:cNvPr>
          <p:cNvSpPr>
            <a:spLocks noGrp="1"/>
          </p:cNvSpPr>
          <p:nvPr/>
        </p:nvSpPr>
        <p:spPr>
          <a:xfrm>
            <a:off x="7543800" y="2381250"/>
            <a:ext cx="1619250" cy="22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A9C7F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A9C7F7"/>
                </a:solidFill>
                <a:latin typeface="Apple SD Gothic Neo"/>
                <a:ea typeface="Apple SD Gothic Neo"/>
                <a:cs typeface="Apple SD Gothic Neo"/>
              </a:rPr>
              <a:t>핵심 사용자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A4C02A8-E945-4367-88B4-95575661D32F}"/>
              </a:ext>
            </a:extLst>
          </p:cNvPr>
          <p:cNvSpPr>
            <a:spLocks noGrp="1"/>
          </p:cNvSpPr>
          <p:nvPr/>
        </p:nvSpPr>
        <p:spPr>
          <a:xfrm>
            <a:off x="7543800" y="2876550"/>
            <a:ext cx="3143250" cy="38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rPr>
              <a:t>영업담당자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1E64B38-A459-4A74-A07C-FB503507A1FA}"/>
              </a:ext>
            </a:extLst>
          </p:cNvPr>
          <p:cNvSpPr>
            <a:spLocks noGrp="1"/>
          </p:cNvSpPr>
          <p:nvPr/>
        </p:nvSpPr>
        <p:spPr>
          <a:xfrm>
            <a:off x="7543800" y="3276600"/>
            <a:ext cx="3238500" cy="2476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D7E6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D7E6F8"/>
                </a:solidFill>
                <a:latin typeface="Apple SD Gothic Neo"/>
                <a:ea typeface="Apple SD Gothic Neo"/>
                <a:cs typeface="Apple SD Gothic Neo"/>
              </a:rPr>
              <a:t>기록·준비·후속 행동의 부담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F38F54C-098B-4DC7-86FE-11C06F4B987F}"/>
              </a:ext>
            </a:extLst>
          </p:cNvPr>
          <p:cNvSpPr>
            <a:spLocks noGrp="1"/>
          </p:cNvSpPr>
          <p:nvPr/>
        </p:nvSpPr>
        <p:spPr>
          <a:xfrm>
            <a:off x="7543800" y="3829050"/>
            <a:ext cx="3143250" cy="38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rPr>
              <a:t>영업관리 팀장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15B6159-9E4B-4090-865D-8C2D632188DC}"/>
              </a:ext>
            </a:extLst>
          </p:cNvPr>
          <p:cNvSpPr>
            <a:spLocks noGrp="1"/>
          </p:cNvSpPr>
          <p:nvPr/>
        </p:nvSpPr>
        <p:spPr>
          <a:xfrm>
            <a:off x="7543800" y="4229100"/>
            <a:ext cx="3238500" cy="2476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D7E6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D7E6F8"/>
                </a:solidFill>
                <a:latin typeface="Apple SD Gothic Neo"/>
                <a:ea typeface="Apple SD Gothic Neo"/>
                <a:cs typeface="Apple SD Gothic Neo"/>
              </a:rPr>
              <a:t>인수인계·예측·코칭의 리스크</a:t>
            </a: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0C081531-999E-40BC-8219-234B54057342}"/>
              </a:ext>
            </a:extLst>
          </p:cNvPr>
          <p:cNvSpPr>
            <a:spLocks noGrp="1"/>
          </p:cNvSpPr>
          <p:nvPr/>
        </p:nvSpPr>
        <p:spPr>
          <a:xfrm>
            <a:off x="647700" y="5219700"/>
            <a:ext cx="10896600" cy="590544"/>
          </a:xfrm>
          <a:prstGeom prst="roundRect">
            <a:avLst>
              <a:gd name="adj" fmla="val 24390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A2F4C4C-8EA9-49C1-A3A6-6FA49DF6CC3D}"/>
              </a:ext>
            </a:extLst>
          </p:cNvPr>
          <p:cNvSpPr>
            <a:spLocks noGrp="1"/>
          </p:cNvSpPr>
          <p:nvPr/>
        </p:nvSpPr>
        <p:spPr>
          <a:xfrm>
            <a:off x="895350" y="5410200"/>
            <a:ext cx="1238250" cy="22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CRM이란?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9F468EF-341D-4100-B033-04DC112857C0}"/>
              </a:ext>
            </a:extLst>
          </p:cNvPr>
          <p:cNvSpPr>
            <a:spLocks noGrp="1"/>
          </p:cNvSpPr>
          <p:nvPr/>
        </p:nvSpPr>
        <p:spPr>
          <a:xfrm>
            <a:off x="2266950" y="5410200"/>
            <a:ext cx="8572500" cy="2667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rPr>
              <a:t>고객·잠재고객과의 상호작용 데이터를 통합해 영업·마케팅·서비스 개선에 활용하는 전략이자 시스템입니다.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DE16362-779C-4546-8A06-68E683B29F5B}"/>
              </a:ext>
            </a:extLst>
          </p:cNvPr>
          <p:cNvSpPr>
            <a:spLocks noGrp="1"/>
          </p:cNvSpPr>
          <p:nvPr/>
        </p:nvSpPr>
        <p:spPr>
          <a:xfrm>
            <a:off x="647700" y="6572250"/>
            <a:ext cx="4000500" cy="1714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82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카스테라(Cass Terra) · SalesLuv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115C835-ECF0-4B25-B446-67F95E5D4A22}"/>
              </a:ext>
            </a:extLst>
          </p:cNvPr>
          <p:cNvSpPr>
            <a:spLocks noGrp="1"/>
          </p:cNvSpPr>
          <p:nvPr/>
        </p:nvSpPr>
        <p:spPr>
          <a:xfrm>
            <a:off x="11144250" y="6553200"/>
            <a:ext cx="400050" cy="1714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82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8529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59FDA1D7-6084-43B0-8B99-1E5908201DB1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857250" cy="2476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CA90E2D-7CF7-477A-8D71-E5E052D70070}"/>
              </a:ext>
            </a:extLst>
          </p:cNvPr>
          <p:cNvSpPr>
            <a:spLocks noGrp="1"/>
          </p:cNvSpPr>
          <p:nvPr/>
        </p:nvSpPr>
        <p:spPr>
          <a:xfrm>
            <a:off x="647700" y="666750"/>
            <a:ext cx="9906000" cy="5143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70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문제정의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F42A1F7-B762-4519-997E-02A133864EDD}"/>
              </a:ext>
            </a:extLst>
          </p:cNvPr>
          <p:cNvSpPr>
            <a:spLocks noGrp="1"/>
          </p:cNvSpPr>
          <p:nvPr/>
        </p:nvSpPr>
        <p:spPr>
          <a:xfrm>
            <a:off x="666750" y="1238250"/>
            <a:ext cx="10287000" cy="304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chemeClr val="accent1">
                    <a:lumMod val="50000"/>
                  </a:schemeClr>
                </a:solidFill>
                <a:latin typeface="Apple SD Gothic Neo"/>
                <a:ea typeface="Apple SD Gothic Neo"/>
                <a:cs typeface="Apple SD Gothic Neo"/>
              </a:rPr>
              <a:t>영업담당자 개인만 소유하는 영업 암묵지(Key Doctor 성향 등)가 이직·인수인계시 소실되는 문제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134035F3-0D8E-4947-A8EA-C208D86314F0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10896600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8" name="그림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9125" y="1905000"/>
            <a:ext cx="7315200" cy="4876800"/>
          </a:xfrm>
          <a:prstGeom prst="rect">
            <a:avLst/>
          </a:prstGeom>
        </p:spPr>
      </p:pic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3401C52D-563B-41E7-8545-4882B517E2A5}"/>
              </a:ext>
            </a:extLst>
          </p:cNvPr>
          <p:cNvSpPr>
            <a:spLocks noGrp="1"/>
          </p:cNvSpPr>
          <p:nvPr/>
        </p:nvSpPr>
        <p:spPr>
          <a:xfrm>
            <a:off x="8286750" y="2000250"/>
            <a:ext cx="3257550" cy="4476750"/>
          </a:xfrm>
          <a:prstGeom prst="roundRect">
            <a:avLst>
              <a:gd name="adj" fmla="val 7018"/>
            </a:avLst>
          </a:prstGeom>
          <a:solidFill>
            <a:srgbClr val="FFFDF8"/>
          </a:solidFill>
          <a:ln w="9525">
            <a:solidFill>
              <a:srgbClr val="D7DE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9F1FCB8-5B07-48E0-A559-C19A9ACCEB49}"/>
              </a:ext>
            </a:extLst>
          </p:cNvPr>
          <p:cNvSpPr>
            <a:spLocks noGrp="1"/>
          </p:cNvSpPr>
          <p:nvPr/>
        </p:nvSpPr>
        <p:spPr>
          <a:xfrm>
            <a:off x="8572500" y="2324100"/>
            <a:ext cx="2476500" cy="2476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95532"/>
          </a:bodyPr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rPr>
              <a:t>입력 부담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B9CAE18-D4E5-48DE-8AA8-79F1BCD79004}"/>
              </a:ext>
            </a:extLst>
          </p:cNvPr>
          <p:cNvSpPr>
            <a:spLocks noGrp="1"/>
          </p:cNvSpPr>
          <p:nvPr/>
        </p:nvSpPr>
        <p:spPr>
          <a:xfrm>
            <a:off x="8572500" y="2638425"/>
            <a:ext cx="2476500" cy="22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화면 이동·반복 입력</a:t>
            </a:r>
          </a:p>
        </p:txBody>
      </p:sp>
      <p:sp>
        <p:nvSpPr>
          <p:cNvPr id="9" name="직선 연결선[R] 8">
            <a:extLst>
              <a:ext uri="{FF2B5EF4-FFF2-40B4-BE49-F238E27FC236}">
                <a16:creationId xmlns:a16="http://schemas.microsoft.com/office/drawing/2014/main" id="{F2A534E1-B113-4E09-9D7C-540972216EAB}"/>
              </a:ext>
            </a:extLst>
          </p:cNvPr>
          <p:cNvSpPr>
            <a:spLocks noGrp="1"/>
          </p:cNvSpPr>
          <p:nvPr/>
        </p:nvSpPr>
        <p:spPr>
          <a:xfrm>
            <a:off x="8572500" y="3038475"/>
            <a:ext cx="2619375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AFBCB7E-FB00-47F4-B530-3F1751ABB7FE}"/>
              </a:ext>
            </a:extLst>
          </p:cNvPr>
          <p:cNvSpPr>
            <a:spLocks noGrp="1"/>
          </p:cNvSpPr>
          <p:nvPr/>
        </p:nvSpPr>
        <p:spPr>
          <a:xfrm>
            <a:off x="8572500" y="3219450"/>
            <a:ext cx="2476500" cy="2476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95532"/>
          </a:bodyPr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rPr>
              <a:t>정보 단절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DB10F1A-8BEB-4D65-BF6F-5F833DB75CA5}"/>
              </a:ext>
            </a:extLst>
          </p:cNvPr>
          <p:cNvSpPr>
            <a:spLocks noGrp="1"/>
          </p:cNvSpPr>
          <p:nvPr/>
        </p:nvSpPr>
        <p:spPr>
          <a:xfrm>
            <a:off x="8572500" y="3533775"/>
            <a:ext cx="2476500" cy="22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메일·캘린더·메신저 분리</a:t>
            </a:r>
          </a:p>
        </p:txBody>
      </p:sp>
      <p:sp>
        <p:nvSpPr>
          <p:cNvPr id="12" name="직선 연결선[R] 11">
            <a:extLst>
              <a:ext uri="{FF2B5EF4-FFF2-40B4-BE49-F238E27FC236}">
                <a16:creationId xmlns:a16="http://schemas.microsoft.com/office/drawing/2014/main" id="{22EA9DB1-B617-4C00-BEC5-D93FE3C7B63A}"/>
              </a:ext>
            </a:extLst>
          </p:cNvPr>
          <p:cNvSpPr>
            <a:spLocks noGrp="1"/>
          </p:cNvSpPr>
          <p:nvPr/>
        </p:nvSpPr>
        <p:spPr>
          <a:xfrm>
            <a:off x="8572500" y="3933825"/>
            <a:ext cx="2619375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2C898FB-9578-44BA-A65D-DECF22E1477F}"/>
              </a:ext>
            </a:extLst>
          </p:cNvPr>
          <p:cNvSpPr>
            <a:spLocks noGrp="1"/>
          </p:cNvSpPr>
          <p:nvPr/>
        </p:nvSpPr>
        <p:spPr>
          <a:xfrm>
            <a:off x="8572500" y="4114800"/>
            <a:ext cx="2476500" cy="2476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95532"/>
          </a:bodyPr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rPr>
              <a:t>판단 공백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C55DE4B-6D45-4588-8BFF-A514B4A09E93}"/>
              </a:ext>
            </a:extLst>
          </p:cNvPr>
          <p:cNvSpPr>
            <a:spLocks noGrp="1"/>
          </p:cNvSpPr>
          <p:nvPr/>
        </p:nvSpPr>
        <p:spPr>
          <a:xfrm>
            <a:off x="8572500" y="4429125"/>
            <a:ext cx="2476500" cy="22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다음 행동·정체 원인 불명확</a:t>
            </a:r>
          </a:p>
        </p:txBody>
      </p:sp>
      <p:sp>
        <p:nvSpPr>
          <p:cNvPr id="15" name="직선 연결선[R] 14">
            <a:extLst>
              <a:ext uri="{FF2B5EF4-FFF2-40B4-BE49-F238E27FC236}">
                <a16:creationId xmlns:a16="http://schemas.microsoft.com/office/drawing/2014/main" id="{75C5F054-C4FB-43A3-BC73-B0AC7B68D5DF}"/>
              </a:ext>
            </a:extLst>
          </p:cNvPr>
          <p:cNvSpPr>
            <a:spLocks noGrp="1"/>
          </p:cNvSpPr>
          <p:nvPr/>
        </p:nvSpPr>
        <p:spPr>
          <a:xfrm>
            <a:off x="8572500" y="4829175"/>
            <a:ext cx="2619375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3083A3D-E828-4B6F-8FC4-FA2CE5E591FD}"/>
              </a:ext>
            </a:extLst>
          </p:cNvPr>
          <p:cNvSpPr>
            <a:spLocks noGrp="1"/>
          </p:cNvSpPr>
          <p:nvPr/>
        </p:nvSpPr>
        <p:spPr>
          <a:xfrm>
            <a:off x="8572500" y="5010150"/>
            <a:ext cx="2476500" cy="2476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95532"/>
          </a:bodyPr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rPr>
              <a:t>관리 한계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3AEE961-0179-40D5-9E7B-9B05D8FE59EF}"/>
              </a:ext>
            </a:extLst>
          </p:cNvPr>
          <p:cNvSpPr>
            <a:spLocks noGrp="1"/>
          </p:cNvSpPr>
          <p:nvPr/>
        </p:nvSpPr>
        <p:spPr>
          <a:xfrm>
            <a:off x="8572500" y="5324475"/>
            <a:ext cx="2476500" cy="22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인수인계·예측·코칭 맥락 부족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165556A-44C7-45C6-8B00-A4FEAB54D5EB}"/>
              </a:ext>
            </a:extLst>
          </p:cNvPr>
          <p:cNvSpPr>
            <a:spLocks noGrp="1"/>
          </p:cNvSpPr>
          <p:nvPr/>
        </p:nvSpPr>
        <p:spPr>
          <a:xfrm>
            <a:off x="647700" y="6572250"/>
            <a:ext cx="4000500" cy="1714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82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카스테라(Cass Terra) · SalesLuv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7D9FA1B-56CA-480B-B7BB-78B4075F34E8}"/>
              </a:ext>
            </a:extLst>
          </p:cNvPr>
          <p:cNvSpPr>
            <a:spLocks noGrp="1"/>
          </p:cNvSpPr>
          <p:nvPr/>
        </p:nvSpPr>
        <p:spPr>
          <a:xfrm>
            <a:off x="11144250" y="6553200"/>
            <a:ext cx="400050" cy="1714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82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0338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>
            <a:extLst>
              <a:ext uri="{FF2B5EF4-FFF2-40B4-BE49-F238E27FC236}">
                <a16:creationId xmlns:a16="http://schemas.microsoft.com/office/drawing/2014/main" id="{F1ADC83A-DE8F-4561-AEB7-0A95B097A9A3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857250" cy="2476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642DF34-ABFA-4CC2-A212-4DA0F0CBE06C}"/>
              </a:ext>
            </a:extLst>
          </p:cNvPr>
          <p:cNvSpPr>
            <a:spLocks noGrp="1"/>
          </p:cNvSpPr>
          <p:nvPr/>
        </p:nvSpPr>
        <p:spPr>
          <a:xfrm>
            <a:off x="647700" y="666750"/>
            <a:ext cx="9906000" cy="5143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70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프로젝트 주제 선정 근거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736849C-1311-4B89-8FB2-2455B0E0EFD8}"/>
              </a:ext>
            </a:extLst>
          </p:cNvPr>
          <p:cNvSpPr>
            <a:spLocks noGrp="1"/>
          </p:cNvSpPr>
          <p:nvPr/>
        </p:nvSpPr>
        <p:spPr>
          <a:xfrm>
            <a:off x="666750" y="1238250"/>
            <a:ext cx="10287000" cy="304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시장 전체보다, 처음 선택받을 수 있는 진입 시장을 먼저 봅니다.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453FE2FE-823C-451E-A436-EA0FDB49461D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10896600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90ED3AA4-ACB9-4AED-8FAF-970E2D61A881}"/>
              </a:ext>
            </a:extLst>
          </p:cNvPr>
          <p:cNvSpPr>
            <a:spLocks noGrp="1"/>
          </p:cNvSpPr>
          <p:nvPr/>
        </p:nvSpPr>
        <p:spPr>
          <a:xfrm>
            <a:off x="647700" y="1952625"/>
            <a:ext cx="4953000" cy="3714750"/>
          </a:xfrm>
          <a:prstGeom prst="roundRect">
            <a:avLst>
              <a:gd name="adj" fmla="val 6154"/>
            </a:avLst>
          </a:prstGeom>
          <a:solidFill>
            <a:srgbClr val="FFFDF8"/>
          </a:solidFill>
          <a:ln w="9525">
            <a:solidFill>
              <a:srgbClr val="D7DE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031F23E-B3A2-4525-BDB8-5B4CE769FA3C}"/>
              </a:ext>
            </a:extLst>
          </p:cNvPr>
          <p:cNvSpPr>
            <a:spLocks noGrp="1"/>
          </p:cNvSpPr>
          <p:nvPr/>
        </p:nvSpPr>
        <p:spPr>
          <a:xfrm>
            <a:off x="933450" y="2247900"/>
            <a:ext cx="3714750" cy="3238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93695"/>
          </a:bodyPr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rPr>
              <a:t>의료기기 영업 CRM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A96168-7776-45BC-A821-37DCE6DBBE51}"/>
              </a:ext>
            </a:extLst>
          </p:cNvPr>
          <p:cNvSpPr>
            <a:spLocks noGrp="1"/>
          </p:cNvSpPr>
          <p:nvPr/>
        </p:nvSpPr>
        <p:spPr>
          <a:xfrm>
            <a:off x="933450" y="2647950"/>
            <a:ext cx="3905250" cy="22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작지만 고객과 구매 이유가 명확한 시작점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7505BE2-C6E2-4AA8-BD4D-D77C132D1365}"/>
              </a:ext>
            </a:extLst>
          </p:cNvPr>
          <p:cNvSpPr>
            <a:spLocks noGrp="1"/>
          </p:cNvSpPr>
          <p:nvPr/>
        </p:nvSpPr>
        <p:spPr>
          <a:xfrm>
            <a:off x="933450" y="3238500"/>
            <a:ext cx="2000250" cy="5143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94697"/>
          </a:bodyPr>
          <a:lstStyle/>
          <a:p>
            <a:pPr algn="l">
              <a:lnSpc>
                <a:spcPct val="108000"/>
              </a:lnSpc>
              <a:buNone/>
              <a:defRPr sz="330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6,661개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5581B1D-2F56-45CD-BF8C-900F0A9E363D}"/>
              </a:ext>
            </a:extLst>
          </p:cNvPr>
          <p:cNvSpPr>
            <a:spLocks noGrp="1"/>
          </p:cNvSpPr>
          <p:nvPr/>
        </p:nvSpPr>
        <p:spPr>
          <a:xfrm>
            <a:off x="933450" y="3790950"/>
            <a:ext cx="2476500" cy="22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국내 의료기기 기업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E22B96F-0889-4F9E-A389-04856FF04543}"/>
              </a:ext>
            </a:extLst>
          </p:cNvPr>
          <p:cNvSpPr>
            <a:spLocks noGrp="1"/>
          </p:cNvSpPr>
          <p:nvPr/>
        </p:nvSpPr>
        <p:spPr>
          <a:xfrm>
            <a:off x="3048000" y="3238500"/>
            <a:ext cx="2000250" cy="5143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94697"/>
          </a:bodyPr>
          <a:lstStyle/>
          <a:p>
            <a:pPr algn="l">
              <a:lnSpc>
                <a:spcPct val="108000"/>
              </a:lnSpc>
              <a:buNone/>
              <a:defRPr sz="330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20,036명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015598A-0985-41A7-96F0-F2DD8E84E387}"/>
              </a:ext>
            </a:extLst>
          </p:cNvPr>
          <p:cNvSpPr>
            <a:spLocks noGrp="1"/>
          </p:cNvSpPr>
          <p:nvPr/>
        </p:nvSpPr>
        <p:spPr>
          <a:xfrm>
            <a:off x="3048000" y="3790950"/>
            <a:ext cx="2095500" cy="22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영업·판매 직무 종사자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C4B2C4B-9FE4-47FD-B6B8-90E99B9D9B8E}"/>
              </a:ext>
            </a:extLst>
          </p:cNvPr>
          <p:cNvSpPr>
            <a:spLocks noGrp="1"/>
          </p:cNvSpPr>
          <p:nvPr/>
        </p:nvSpPr>
        <p:spPr>
          <a:xfrm>
            <a:off x="933450" y="4438650"/>
            <a:ext cx="2857500" cy="4000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400" b="1">
                <a:solidFill>
                  <a:srgbClr val="277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277B63"/>
                </a:solidFill>
                <a:latin typeface="Apple SD Gothic Neo"/>
                <a:ea typeface="Apple SD Gothic Neo"/>
                <a:cs typeface="Apple SD Gothic Neo"/>
              </a:rPr>
              <a:t>연 72~120억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5F22680-7A67-430E-A8BA-83B8F3C7EFE4}"/>
              </a:ext>
            </a:extLst>
          </p:cNvPr>
          <p:cNvSpPr>
            <a:spLocks noGrp="1"/>
          </p:cNvSpPr>
          <p:nvPr/>
        </p:nvSpPr>
        <p:spPr>
          <a:xfrm>
            <a:off x="933450" y="4895850"/>
            <a:ext cx="2476500" cy="22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이론상 구독 매출 상한</a:t>
            </a: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6B395130-5D0D-44F4-9A32-F46D3739EC8A}"/>
              </a:ext>
            </a:extLst>
          </p:cNvPr>
          <p:cNvSpPr>
            <a:spLocks noGrp="1"/>
          </p:cNvSpPr>
          <p:nvPr/>
        </p:nvSpPr>
        <p:spPr>
          <a:xfrm>
            <a:off x="933450" y="5238750"/>
            <a:ext cx="1466850" cy="228600"/>
          </a:xfrm>
          <a:prstGeom prst="roundRect">
            <a:avLst>
              <a:gd name="adj" fmla="val 50000"/>
            </a:avLst>
          </a:prstGeom>
          <a:solidFill>
            <a:srgbClr val="EAF7F5"/>
          </a:solidFill>
          <a:ln w="9525">
            <a:solidFill>
              <a:srgbClr val="EAF7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0C98F3E-937E-424B-B71C-4AEA68C90FCF}"/>
              </a:ext>
            </a:extLst>
          </p:cNvPr>
          <p:cNvSpPr>
            <a:spLocks noGrp="1"/>
          </p:cNvSpPr>
          <p:nvPr/>
        </p:nvSpPr>
        <p:spPr>
          <a:xfrm>
            <a:off x="1000125" y="5276850"/>
            <a:ext cx="1333500" cy="152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825" b="1">
                <a:solidFill>
                  <a:srgbClr val="277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77B63"/>
                </a:solidFill>
                <a:latin typeface="Apple SD Gothic Neo"/>
                <a:ea typeface="Apple SD Gothic Neo"/>
                <a:cs typeface="Apple SD Gothic Neo"/>
              </a:rPr>
              <a:t>[검증 · 제공 시장조사]</a:t>
            </a: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822E676C-5922-488C-9BFC-C37ACECF3B68}"/>
              </a:ext>
            </a:extLst>
          </p:cNvPr>
          <p:cNvSpPr>
            <a:spLocks noGrp="1"/>
          </p:cNvSpPr>
          <p:nvPr/>
        </p:nvSpPr>
        <p:spPr>
          <a:xfrm>
            <a:off x="5943600" y="1952625"/>
            <a:ext cx="5600700" cy="3714750"/>
          </a:xfrm>
          <a:prstGeom prst="roundRect">
            <a:avLst>
              <a:gd name="adj" fmla="val 6154"/>
            </a:avLst>
          </a:prstGeom>
          <a:solidFill>
            <a:srgbClr val="12355B"/>
          </a:solidFill>
          <a:ln w="9525">
            <a:solidFill>
              <a:srgbClr val="12355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02AE3E0-FC03-4835-8423-C58B768689DB}"/>
              </a:ext>
            </a:extLst>
          </p:cNvPr>
          <p:cNvSpPr>
            <a:spLocks noGrp="1"/>
          </p:cNvSpPr>
          <p:nvPr/>
        </p:nvSpPr>
        <p:spPr>
          <a:xfrm>
            <a:off x="6229350" y="2247900"/>
            <a:ext cx="3429000" cy="3238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93695"/>
          </a:bodyPr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rPr>
              <a:t>일반 영업 CRM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5D45FE7-5D02-4ECD-A7F5-6E628678A54B}"/>
              </a:ext>
            </a:extLst>
          </p:cNvPr>
          <p:cNvSpPr>
            <a:spLocks noGrp="1"/>
          </p:cNvSpPr>
          <p:nvPr/>
        </p:nvSpPr>
        <p:spPr>
          <a:xfrm>
            <a:off x="6229350" y="2647950"/>
            <a:ext cx="4476750" cy="22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D7E6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D7E6F8"/>
                </a:solidFill>
                <a:latin typeface="Apple SD Gothic Neo"/>
                <a:ea typeface="Apple SD Gothic Neo"/>
                <a:cs typeface="Apple SD Gothic Neo"/>
              </a:rPr>
              <a:t>크지만 경쟁과 고객 획득 난도가 높은 시장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CDDB4E7-EFA4-423D-9180-47BCB8655EE2}"/>
              </a:ext>
            </a:extLst>
          </p:cNvPr>
          <p:cNvSpPr>
            <a:spLocks noGrp="1"/>
          </p:cNvSpPr>
          <p:nvPr/>
        </p:nvSpPr>
        <p:spPr>
          <a:xfrm>
            <a:off x="6229350" y="3295650"/>
            <a:ext cx="3048000" cy="5143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l">
              <a:lnSpc>
                <a:spcPct val="108000"/>
              </a:lnSpc>
              <a:buNone/>
              <a:defRPr sz="3150" b="1">
                <a:solidFill>
                  <a:srgbClr val="F4C9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F4C95D"/>
                </a:solidFill>
                <a:latin typeface="Apple SD Gothic Neo"/>
                <a:ea typeface="Apple SD Gothic Neo"/>
                <a:cs typeface="Apple SD Gothic Neo"/>
              </a:rPr>
              <a:t>약 2.8조원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6AD69C9-51B3-416B-9EC1-45C93B7B392C}"/>
              </a:ext>
            </a:extLst>
          </p:cNvPr>
          <p:cNvSpPr>
            <a:spLocks noGrp="1"/>
          </p:cNvSpPr>
          <p:nvPr/>
        </p:nvSpPr>
        <p:spPr>
          <a:xfrm>
            <a:off x="6229350" y="3848100"/>
            <a:ext cx="2857500" cy="22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D7E6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D7E6F8"/>
                </a:solidFill>
                <a:latin typeface="Apple SD Gothic Neo"/>
                <a:ea typeface="Apple SD Gothic Neo"/>
                <a:cs typeface="Apple SD Gothic Neo"/>
              </a:rPr>
              <a:t>국내 전체 CRM 추정 시장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2F179C9-6575-4DEC-A375-46CA98829A93}"/>
              </a:ext>
            </a:extLst>
          </p:cNvPr>
          <p:cNvSpPr>
            <a:spLocks noGrp="1"/>
          </p:cNvSpPr>
          <p:nvPr/>
        </p:nvSpPr>
        <p:spPr>
          <a:xfrm>
            <a:off x="6229350" y="4362450"/>
            <a:ext cx="3048000" cy="5143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l">
              <a:lnSpc>
                <a:spcPct val="108000"/>
              </a:lnSpc>
              <a:buNone/>
              <a:defRPr sz="3150" b="1">
                <a:solidFill>
                  <a:srgbClr val="F4C9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F4C95D"/>
                </a:solidFill>
                <a:latin typeface="Apple SD Gothic Neo"/>
                <a:ea typeface="Apple SD Gothic Neo"/>
                <a:cs typeface="Apple SD Gothic Neo"/>
              </a:rPr>
              <a:t>약 38.6조원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5C01ADF-07E5-404D-AE95-2AF9E0F3C52B}"/>
              </a:ext>
            </a:extLst>
          </p:cNvPr>
          <p:cNvSpPr>
            <a:spLocks noGrp="1"/>
          </p:cNvSpPr>
          <p:nvPr/>
        </p:nvSpPr>
        <p:spPr>
          <a:xfrm>
            <a:off x="6229350" y="4914900"/>
            <a:ext cx="3048000" cy="22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D7E6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D7E6F8"/>
                </a:solidFill>
                <a:latin typeface="Apple SD Gothic Neo"/>
                <a:ea typeface="Apple SD Gothic Neo"/>
                <a:cs typeface="Apple SD Gothic Neo"/>
              </a:rPr>
              <a:t>글로벌 영업 CRM 추정 시장</a:t>
            </a: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C4EE10A7-670D-4094-B33A-EED19AD9CC23}"/>
              </a:ext>
            </a:extLst>
          </p:cNvPr>
          <p:cNvSpPr>
            <a:spLocks noGrp="1"/>
          </p:cNvSpPr>
          <p:nvPr/>
        </p:nvSpPr>
        <p:spPr>
          <a:xfrm>
            <a:off x="6229350" y="5238750"/>
            <a:ext cx="1466850" cy="228600"/>
          </a:xfrm>
          <a:prstGeom prst="roundRect">
            <a:avLst>
              <a:gd name="adj" fmla="val 50000"/>
            </a:avLst>
          </a:prstGeom>
          <a:solidFill>
            <a:srgbClr val="214A78"/>
          </a:solidFill>
          <a:ln w="9525">
            <a:solidFill>
              <a:srgbClr val="214A7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B2B625E-5F45-4416-9B28-68103A25A3EE}"/>
              </a:ext>
            </a:extLst>
          </p:cNvPr>
          <p:cNvSpPr>
            <a:spLocks noGrp="1"/>
          </p:cNvSpPr>
          <p:nvPr/>
        </p:nvSpPr>
        <p:spPr>
          <a:xfrm>
            <a:off x="6296025" y="5276850"/>
            <a:ext cx="1333500" cy="152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825" b="1">
                <a:solidFill>
                  <a:srgbClr val="D7E6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D7E6F8"/>
                </a:solidFill>
                <a:latin typeface="Apple SD Gothic Neo"/>
                <a:ea typeface="Apple SD Gothic Neo"/>
                <a:cs typeface="Apple SD Gothic Neo"/>
              </a:rPr>
              <a:t>[검증 · 제공 시장조사]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3E92780-5360-42CB-920B-DCBB1C256D2C}"/>
              </a:ext>
            </a:extLst>
          </p:cNvPr>
          <p:cNvSpPr>
            <a:spLocks noGrp="1"/>
          </p:cNvSpPr>
          <p:nvPr/>
        </p:nvSpPr>
        <p:spPr>
          <a:xfrm>
            <a:off x="647700" y="6572250"/>
            <a:ext cx="4000500" cy="1714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82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카스테라(Cass Terra) · SalesLuv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E18FE26-52A8-437B-8745-70DE188B5CA9}"/>
              </a:ext>
            </a:extLst>
          </p:cNvPr>
          <p:cNvSpPr>
            <a:spLocks noGrp="1"/>
          </p:cNvSpPr>
          <p:nvPr/>
        </p:nvSpPr>
        <p:spPr>
          <a:xfrm>
            <a:off x="11144250" y="6553200"/>
            <a:ext cx="400050" cy="1714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82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32860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EBA62DD-C32B-472F-8679-ED63B95181E7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857250" cy="2476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C665C49-8AAE-4F6D-A5EC-87FCCE828017}"/>
              </a:ext>
            </a:extLst>
          </p:cNvPr>
          <p:cNvSpPr>
            <a:spLocks noGrp="1"/>
          </p:cNvSpPr>
          <p:nvPr/>
        </p:nvSpPr>
        <p:spPr>
          <a:xfrm>
            <a:off x="647700" y="666750"/>
            <a:ext cx="9906000" cy="5143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70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영업흐름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11DA60D-C9D8-4639-BC5C-EEBE17F961A2}"/>
              </a:ext>
            </a:extLst>
          </p:cNvPr>
          <p:cNvSpPr>
            <a:spLocks noGrp="1"/>
          </p:cNvSpPr>
          <p:nvPr/>
        </p:nvSpPr>
        <p:spPr>
          <a:xfrm>
            <a:off x="666750" y="1238250"/>
            <a:ext cx="10287000" cy="304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SalesLuv는 영업단계마다 생기는 정보를 다음 판단으로 연결합니다.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5C3D0CC0-2BAA-4420-9B9A-2D4174888411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10896600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2" name="그림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52688" y="1924050"/>
            <a:ext cx="7286625" cy="485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151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6A0889D9-59CA-4192-A26A-FC0A266625DC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857250" cy="2476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9F0043-FCE8-4F5E-869E-F89235C404A0}"/>
              </a:ext>
            </a:extLst>
          </p:cNvPr>
          <p:cNvSpPr>
            <a:spLocks noGrp="1"/>
          </p:cNvSpPr>
          <p:nvPr/>
        </p:nvSpPr>
        <p:spPr>
          <a:xfrm>
            <a:off x="647700" y="666750"/>
            <a:ext cx="9906000" cy="5143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70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기존 CRM의 단점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FBAB18F-07E1-4320-A969-4B30F636001E}"/>
              </a:ext>
            </a:extLst>
          </p:cNvPr>
          <p:cNvSpPr>
            <a:spLocks noGrp="1"/>
          </p:cNvSpPr>
          <p:nvPr/>
        </p:nvSpPr>
        <p:spPr>
          <a:xfrm>
            <a:off x="666750" y="1238250"/>
            <a:ext cx="10287000" cy="304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기록은 쌓이지만, 고객·딜·활동의 맥락이 흩어져 판단으로 이어지지 않습니다.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13E1E038-3711-4452-9161-6331847B3C93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10896600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2" name="그림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381250" y="1809750"/>
            <a:ext cx="742950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357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>
            <a:extLst>
              <a:ext uri="{FF2B5EF4-FFF2-40B4-BE49-F238E27FC236}">
                <a16:creationId xmlns:a16="http://schemas.microsoft.com/office/drawing/2014/main" id="{FB699DD3-D6C0-43FF-8054-01FA48EF5923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857250" cy="2476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37AD214-3C59-4DA5-9B80-E840C390281E}"/>
              </a:ext>
            </a:extLst>
          </p:cNvPr>
          <p:cNvSpPr>
            <a:spLocks noGrp="1"/>
          </p:cNvSpPr>
          <p:nvPr/>
        </p:nvSpPr>
        <p:spPr>
          <a:xfrm>
            <a:off x="647700" y="666750"/>
            <a:ext cx="9906000" cy="5143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70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기존 CRM과 차별화할 핵심기능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DBB2A86-96CA-4AA5-B9A9-1C589560B34D}"/>
              </a:ext>
            </a:extLst>
          </p:cNvPr>
          <p:cNvSpPr>
            <a:spLocks noGrp="1"/>
          </p:cNvSpPr>
          <p:nvPr/>
        </p:nvSpPr>
        <p:spPr>
          <a:xfrm>
            <a:off x="666750" y="1238250"/>
            <a:ext cx="10287000" cy="304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SalesLuv의 차별점은 “자동 입력” 하나가 아니라, 맥락을 모아 판단·승인·재계산하는 흐름입니다.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4219949C-2E0C-4D56-AF37-F7D7AE67268E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10896600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0D83515D-DA89-403D-88CF-7C33E7A7557F}"/>
              </a:ext>
            </a:extLst>
          </p:cNvPr>
          <p:cNvSpPr>
            <a:spLocks noGrp="1"/>
          </p:cNvSpPr>
          <p:nvPr/>
        </p:nvSpPr>
        <p:spPr>
          <a:xfrm>
            <a:off x="723900" y="2076450"/>
            <a:ext cx="5143500" cy="1504950"/>
          </a:xfrm>
          <a:prstGeom prst="roundRect">
            <a:avLst>
              <a:gd name="adj" fmla="val 13924"/>
            </a:avLst>
          </a:prstGeom>
          <a:solidFill>
            <a:srgbClr val="FFFDF8"/>
          </a:solidFill>
          <a:ln w="9525">
            <a:solidFill>
              <a:srgbClr val="D7DE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F0607ED7-C70F-4FA3-B41E-FFCCB13F67BE}"/>
              </a:ext>
            </a:extLst>
          </p:cNvPr>
          <p:cNvSpPr>
            <a:spLocks noGrp="1"/>
          </p:cNvSpPr>
          <p:nvPr/>
        </p:nvSpPr>
        <p:spPr>
          <a:xfrm>
            <a:off x="933450" y="226695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C8DE68A-E71B-44A1-8DBA-34C47661F0BF}"/>
              </a:ext>
            </a:extLst>
          </p:cNvPr>
          <p:cNvSpPr>
            <a:spLocks noGrp="1"/>
          </p:cNvSpPr>
          <p:nvPr/>
        </p:nvSpPr>
        <p:spPr>
          <a:xfrm>
            <a:off x="1000125" y="2305050"/>
            <a:ext cx="323850" cy="152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82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A468B62-3960-4DA0-8B1A-DBD61B0121BB}"/>
              </a:ext>
            </a:extLst>
          </p:cNvPr>
          <p:cNvSpPr>
            <a:spLocks noGrp="1"/>
          </p:cNvSpPr>
          <p:nvPr/>
        </p:nvSpPr>
        <p:spPr>
          <a:xfrm>
            <a:off x="1562100" y="2286000"/>
            <a:ext cx="3714750" cy="2667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93934"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rPr>
              <a:t>통합 맥락 카드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DA5476A-5B65-4CD2-8783-703510F10DCC}"/>
              </a:ext>
            </a:extLst>
          </p:cNvPr>
          <p:cNvSpPr>
            <a:spLocks noGrp="1"/>
          </p:cNvSpPr>
          <p:nvPr/>
        </p:nvSpPr>
        <p:spPr>
          <a:xfrm>
            <a:off x="933450" y="2724150"/>
            <a:ext cx="4667250" cy="2857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고객·딜·활동·결정자·이슈를 한 화면에서 연결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6FBA893-82C8-4889-ADB3-0146DEB1083E}"/>
              </a:ext>
            </a:extLst>
          </p:cNvPr>
          <p:cNvSpPr>
            <a:spLocks noGrp="1"/>
          </p:cNvSpPr>
          <p:nvPr/>
        </p:nvSpPr>
        <p:spPr>
          <a:xfrm>
            <a:off x="933450" y="3105150"/>
            <a:ext cx="4572000" cy="238125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메일·캘린더·메신저 등 분산 정보의 연결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B3ABC043-65A4-4838-BBA4-B42B11536B47}"/>
              </a:ext>
            </a:extLst>
          </p:cNvPr>
          <p:cNvSpPr>
            <a:spLocks noGrp="1"/>
          </p:cNvSpPr>
          <p:nvPr/>
        </p:nvSpPr>
        <p:spPr>
          <a:xfrm>
            <a:off x="6210300" y="2076450"/>
            <a:ext cx="5143500" cy="1504950"/>
          </a:xfrm>
          <a:prstGeom prst="roundRect">
            <a:avLst>
              <a:gd name="adj" fmla="val 13924"/>
            </a:avLst>
          </a:prstGeom>
          <a:solidFill>
            <a:srgbClr val="FFFDF8"/>
          </a:solidFill>
          <a:ln w="9525">
            <a:solidFill>
              <a:srgbClr val="D7DE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88CB3525-CAEB-4586-A049-00865FC45F5B}"/>
              </a:ext>
            </a:extLst>
          </p:cNvPr>
          <p:cNvSpPr>
            <a:spLocks noGrp="1"/>
          </p:cNvSpPr>
          <p:nvPr/>
        </p:nvSpPr>
        <p:spPr>
          <a:xfrm>
            <a:off x="6419850" y="226695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EAF7F5"/>
          </a:solidFill>
          <a:ln w="9525">
            <a:solidFill>
              <a:srgbClr val="EAF7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4758C57-B6D5-4587-AF1F-4C075C7D7179}"/>
              </a:ext>
            </a:extLst>
          </p:cNvPr>
          <p:cNvSpPr>
            <a:spLocks noGrp="1"/>
          </p:cNvSpPr>
          <p:nvPr/>
        </p:nvSpPr>
        <p:spPr>
          <a:xfrm>
            <a:off x="6486525" y="2305050"/>
            <a:ext cx="323850" cy="152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825" b="1">
                <a:solidFill>
                  <a:srgbClr val="277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77B63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93F2682-5219-4AF9-B8F3-50F4B24A2CA5}"/>
              </a:ext>
            </a:extLst>
          </p:cNvPr>
          <p:cNvSpPr>
            <a:spLocks noGrp="1"/>
          </p:cNvSpPr>
          <p:nvPr/>
        </p:nvSpPr>
        <p:spPr>
          <a:xfrm>
            <a:off x="7048500" y="2286000"/>
            <a:ext cx="3714750" cy="2667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93934"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rPr>
              <a:t>미팅 보고서 초안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8955372-EDD5-4193-93F9-DF1AA5E96A3A}"/>
              </a:ext>
            </a:extLst>
          </p:cNvPr>
          <p:cNvSpPr>
            <a:spLocks noGrp="1"/>
          </p:cNvSpPr>
          <p:nvPr/>
        </p:nvSpPr>
        <p:spPr>
          <a:xfrm>
            <a:off x="6419850" y="2724150"/>
            <a:ext cx="4667250" cy="2857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STT·OCR·직접 입력을 바탕으로 보고서와 변경안 생성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331FB4D-9D68-414C-9E5C-43F555746753}"/>
              </a:ext>
            </a:extLst>
          </p:cNvPr>
          <p:cNvSpPr>
            <a:spLocks noGrp="1"/>
          </p:cNvSpPr>
          <p:nvPr/>
        </p:nvSpPr>
        <p:spPr>
          <a:xfrm>
            <a:off x="6419850" y="3105150"/>
            <a:ext cx="4572000" cy="238125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사람이 수정·확정하기 전에는 저장하지 않음</a:t>
            </a: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0241A4A3-6F93-46E8-9E80-B1978F682A82}"/>
              </a:ext>
            </a:extLst>
          </p:cNvPr>
          <p:cNvSpPr>
            <a:spLocks noGrp="1"/>
          </p:cNvSpPr>
          <p:nvPr/>
        </p:nvSpPr>
        <p:spPr>
          <a:xfrm>
            <a:off x="723900" y="3886200"/>
            <a:ext cx="5143500" cy="1504950"/>
          </a:xfrm>
          <a:prstGeom prst="roundRect">
            <a:avLst>
              <a:gd name="adj" fmla="val 13924"/>
            </a:avLst>
          </a:prstGeom>
          <a:solidFill>
            <a:srgbClr val="FFFDF8"/>
          </a:solidFill>
          <a:ln w="9525">
            <a:solidFill>
              <a:srgbClr val="D7DE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86CEEF71-D9A0-402F-87F3-92F10D21E566}"/>
              </a:ext>
            </a:extLst>
          </p:cNvPr>
          <p:cNvSpPr>
            <a:spLocks noGrp="1"/>
          </p:cNvSpPr>
          <p:nvPr/>
        </p:nvSpPr>
        <p:spPr>
          <a:xfrm>
            <a:off x="933450" y="407670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8DE"/>
          </a:solidFill>
          <a:ln w="9525">
            <a:solidFill>
              <a:srgbClr val="FFF8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2FC54E3-37FF-4DE6-83AD-89581E9430DA}"/>
              </a:ext>
            </a:extLst>
          </p:cNvPr>
          <p:cNvSpPr>
            <a:spLocks noGrp="1"/>
          </p:cNvSpPr>
          <p:nvPr/>
        </p:nvSpPr>
        <p:spPr>
          <a:xfrm>
            <a:off x="1000125" y="4114800"/>
            <a:ext cx="323850" cy="152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825" b="1">
                <a:solidFill>
                  <a:srgbClr val="9A6B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9A6B0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413D59B-C8D1-4D14-9F07-2745427C3997}"/>
              </a:ext>
            </a:extLst>
          </p:cNvPr>
          <p:cNvSpPr>
            <a:spLocks noGrp="1"/>
          </p:cNvSpPr>
          <p:nvPr/>
        </p:nvSpPr>
        <p:spPr>
          <a:xfrm>
            <a:off x="1562100" y="4095750"/>
            <a:ext cx="3714750" cy="2667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93934"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rPr>
              <a:t>Deal × Portfolio Agent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3A385D0-CACC-4AC1-B344-48B5E70A2A1E}"/>
              </a:ext>
            </a:extLst>
          </p:cNvPr>
          <p:cNvSpPr>
            <a:spLocks noGrp="1"/>
          </p:cNvSpPr>
          <p:nvPr/>
        </p:nvSpPr>
        <p:spPr>
          <a:xfrm>
            <a:off x="933450" y="4533900"/>
            <a:ext cx="4667250" cy="2857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딜 내부의 다음 행동과 딜 사이의 우선순위를 분리 판단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F4E80C6-0220-4506-A6BC-4FE0982B07D9}"/>
              </a:ext>
            </a:extLst>
          </p:cNvPr>
          <p:cNvSpPr>
            <a:spLocks noGrp="1"/>
          </p:cNvSpPr>
          <p:nvPr/>
        </p:nvSpPr>
        <p:spPr>
          <a:xfrm>
            <a:off x="933450" y="4914900"/>
            <a:ext cx="4572000" cy="238125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충돌 시 제약을 되돌려 재분석</a:t>
            </a: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D2FAC9A6-9AA1-4E65-A42C-B88DED56802F}"/>
              </a:ext>
            </a:extLst>
          </p:cNvPr>
          <p:cNvSpPr>
            <a:spLocks noGrp="1"/>
          </p:cNvSpPr>
          <p:nvPr/>
        </p:nvSpPr>
        <p:spPr>
          <a:xfrm>
            <a:off x="6210300" y="3886200"/>
            <a:ext cx="5143500" cy="1504950"/>
          </a:xfrm>
          <a:prstGeom prst="roundRect">
            <a:avLst>
              <a:gd name="adj" fmla="val 13924"/>
            </a:avLst>
          </a:prstGeom>
          <a:solidFill>
            <a:srgbClr val="FFFDF8"/>
          </a:solidFill>
          <a:ln w="9525">
            <a:solidFill>
              <a:srgbClr val="D7DE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E39F42C2-F01F-415D-8EC8-A98D299C3D07}"/>
              </a:ext>
            </a:extLst>
          </p:cNvPr>
          <p:cNvSpPr>
            <a:spLocks noGrp="1"/>
          </p:cNvSpPr>
          <p:nvPr/>
        </p:nvSpPr>
        <p:spPr>
          <a:xfrm>
            <a:off x="6419850" y="407670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0EC"/>
          </a:solidFill>
          <a:ln w="9525">
            <a:solidFill>
              <a:srgbClr val="FFF0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E083111-0F3D-4ADD-9DF7-487880062D0E}"/>
              </a:ext>
            </a:extLst>
          </p:cNvPr>
          <p:cNvSpPr>
            <a:spLocks noGrp="1"/>
          </p:cNvSpPr>
          <p:nvPr/>
        </p:nvSpPr>
        <p:spPr>
          <a:xfrm>
            <a:off x="6486525" y="4114800"/>
            <a:ext cx="323850" cy="152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825" b="1">
                <a:solidFill>
                  <a:srgbClr val="B9473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B94735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F2B16BD-E1E9-4C44-9C88-94A642F48618}"/>
              </a:ext>
            </a:extLst>
          </p:cNvPr>
          <p:cNvSpPr>
            <a:spLocks noGrp="1"/>
          </p:cNvSpPr>
          <p:nvPr/>
        </p:nvSpPr>
        <p:spPr>
          <a:xfrm>
            <a:off x="7048500" y="4095750"/>
            <a:ext cx="3714750" cy="2667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93934"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rPr>
              <a:t>승인 게이트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688F3B9-05F3-4C56-95D7-5D8DF39EED40}"/>
              </a:ext>
            </a:extLst>
          </p:cNvPr>
          <p:cNvSpPr>
            <a:spLocks noGrp="1"/>
          </p:cNvSpPr>
          <p:nvPr/>
        </p:nvSpPr>
        <p:spPr>
          <a:xfrm>
            <a:off x="6419850" y="4533900"/>
            <a:ext cx="4667250" cy="2857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AI는 분석·준비·제안까지, 확정은 사용자 선택으로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18B6BCD-D894-4C75-9C5F-00D98B79387E}"/>
              </a:ext>
            </a:extLst>
          </p:cNvPr>
          <p:cNvSpPr>
            <a:spLocks noGrp="1"/>
          </p:cNvSpPr>
          <p:nvPr/>
        </p:nvSpPr>
        <p:spPr>
          <a:xfrm>
            <a:off x="6419850" y="4914900"/>
            <a:ext cx="4572000" cy="238125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CRM 변경·캘린더 등록·보고서 확정은 승인 후 반영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5D81C8A-4135-48DE-A11C-9C76F95D6B15}"/>
              </a:ext>
            </a:extLst>
          </p:cNvPr>
          <p:cNvSpPr>
            <a:spLocks noGrp="1"/>
          </p:cNvSpPr>
          <p:nvPr/>
        </p:nvSpPr>
        <p:spPr>
          <a:xfrm>
            <a:off x="647700" y="6572250"/>
            <a:ext cx="4000500" cy="1714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82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카스테라(Cass Terra) · SalesLuv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A853537-E7CA-41D3-87D5-652E829DBA13}"/>
              </a:ext>
            </a:extLst>
          </p:cNvPr>
          <p:cNvSpPr>
            <a:spLocks noGrp="1"/>
          </p:cNvSpPr>
          <p:nvPr/>
        </p:nvSpPr>
        <p:spPr>
          <a:xfrm>
            <a:off x="11144250" y="6553200"/>
            <a:ext cx="400050" cy="1714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82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61274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>
            <a:extLst>
              <a:ext uri="{FF2B5EF4-FFF2-40B4-BE49-F238E27FC236}">
                <a16:creationId xmlns:a16="http://schemas.microsoft.com/office/drawing/2014/main" id="{3CD369D6-2EEF-4096-816A-8C630F42AD6F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857250" cy="2476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14A4AB5-9CF3-4887-AC5E-FE0483ECFAB2}"/>
              </a:ext>
            </a:extLst>
          </p:cNvPr>
          <p:cNvSpPr>
            <a:spLocks noGrp="1"/>
          </p:cNvSpPr>
          <p:nvPr/>
        </p:nvSpPr>
        <p:spPr>
          <a:xfrm>
            <a:off x="647700" y="666750"/>
            <a:ext cx="9906000" cy="5143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70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전체 사용자 시나리오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7CCACD2-13A0-4DBA-A9A8-96EDBB3F36A6}"/>
              </a:ext>
            </a:extLst>
          </p:cNvPr>
          <p:cNvSpPr>
            <a:spLocks noGrp="1"/>
          </p:cNvSpPr>
          <p:nvPr/>
        </p:nvSpPr>
        <p:spPr>
          <a:xfrm>
            <a:off x="666750" y="1238250"/>
            <a:ext cx="10287000" cy="304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영업사원은 추천을 받고 선택하며, 시스템은 승인된 정보로 다음 사이클을 다시 계산합니다.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4152A786-CD41-40E4-A249-C755AE9686EC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10896600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선 연결선[R] 4">
            <a:extLst>
              <a:ext uri="{FF2B5EF4-FFF2-40B4-BE49-F238E27FC236}">
                <a16:creationId xmlns:a16="http://schemas.microsoft.com/office/drawing/2014/main" id="{B5B8E5A6-0E7C-4930-BF72-E252C46D7DE2}"/>
              </a:ext>
            </a:extLst>
          </p:cNvPr>
          <p:cNvSpPr>
            <a:spLocks noGrp="1"/>
          </p:cNvSpPr>
          <p:nvPr/>
        </p:nvSpPr>
        <p:spPr>
          <a:xfrm>
            <a:off x="2019300" y="3152775"/>
            <a:ext cx="457200" cy="0"/>
          </a:xfrm>
          <a:prstGeom prst="line">
            <a:avLst/>
          </a:prstGeom>
          <a:noFill/>
          <a:ln w="28575">
            <a:solidFill>
              <a:srgbClr val="2D74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996AF24A-0D66-47D9-AEC0-3593DA22CE79}"/>
              </a:ext>
            </a:extLst>
          </p:cNvPr>
          <p:cNvSpPr>
            <a:spLocks noGrp="1"/>
          </p:cNvSpPr>
          <p:nvPr/>
        </p:nvSpPr>
        <p:spPr>
          <a:xfrm>
            <a:off x="666750" y="2476500"/>
            <a:ext cx="1428750" cy="1428750"/>
          </a:xfrm>
          <a:prstGeom prst="roundRect">
            <a:avLst>
              <a:gd name="adj" fmla="val 14667"/>
            </a:avLst>
          </a:prstGeom>
          <a:solidFill>
            <a:srgbClr val="FFFDF8"/>
          </a:solidFill>
          <a:ln w="9525">
            <a:solidFill>
              <a:srgbClr val="D7DE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1DC2D89-AD8F-4CAA-BB69-F621331DE018}"/>
              </a:ext>
            </a:extLst>
          </p:cNvPr>
          <p:cNvSpPr>
            <a:spLocks noGrp="1"/>
          </p:cNvSpPr>
          <p:nvPr/>
        </p:nvSpPr>
        <p:spPr>
          <a:xfrm>
            <a:off x="838200" y="2609850"/>
            <a:ext cx="323850" cy="304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98765"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A49C086-A49B-4874-8C68-310B7E582FD4}"/>
              </a:ext>
            </a:extLst>
          </p:cNvPr>
          <p:cNvSpPr>
            <a:spLocks noGrp="1"/>
          </p:cNvSpPr>
          <p:nvPr/>
        </p:nvSpPr>
        <p:spPr>
          <a:xfrm>
            <a:off x="838200" y="2990850"/>
            <a:ext cx="1104900" cy="4191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rPr>
              <a:t>오늘의 우선순위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5A12BE1-82E2-4324-B958-1FA9CC03B6B0}"/>
              </a:ext>
            </a:extLst>
          </p:cNvPr>
          <p:cNvSpPr>
            <a:spLocks noGrp="1"/>
          </p:cNvSpPr>
          <p:nvPr/>
        </p:nvSpPr>
        <p:spPr>
          <a:xfrm>
            <a:off x="838200" y="3486150"/>
            <a:ext cx="1104900" cy="219075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9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전체 딜 비교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01CA31C9-F0CB-4099-B15C-0AEBF3FED3B0}"/>
              </a:ext>
            </a:extLst>
          </p:cNvPr>
          <p:cNvSpPr>
            <a:spLocks noGrp="1"/>
          </p:cNvSpPr>
          <p:nvPr/>
        </p:nvSpPr>
        <p:spPr>
          <a:xfrm>
            <a:off x="742950" y="4133850"/>
            <a:ext cx="1276350" cy="285750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FF2AE8E-C442-4302-AB74-2AB34D4BAF4A}"/>
              </a:ext>
            </a:extLst>
          </p:cNvPr>
          <p:cNvSpPr>
            <a:spLocks noGrp="1"/>
          </p:cNvSpPr>
          <p:nvPr/>
        </p:nvSpPr>
        <p:spPr>
          <a:xfrm>
            <a:off x="838200" y="4191000"/>
            <a:ext cx="1085850" cy="1714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82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Portfolio Agent</a:t>
            </a:r>
          </a:p>
        </p:txBody>
      </p:sp>
      <p:sp>
        <p:nvSpPr>
          <p:cNvPr id="12" name="직선 연결선[R] 11">
            <a:extLst>
              <a:ext uri="{FF2B5EF4-FFF2-40B4-BE49-F238E27FC236}">
                <a16:creationId xmlns:a16="http://schemas.microsoft.com/office/drawing/2014/main" id="{E01A24EE-D53B-4255-A8FE-9FDED53235DF}"/>
              </a:ext>
            </a:extLst>
          </p:cNvPr>
          <p:cNvSpPr>
            <a:spLocks noGrp="1"/>
          </p:cNvSpPr>
          <p:nvPr/>
        </p:nvSpPr>
        <p:spPr>
          <a:xfrm>
            <a:off x="3857625" y="3152775"/>
            <a:ext cx="457200" cy="0"/>
          </a:xfrm>
          <a:prstGeom prst="line">
            <a:avLst/>
          </a:prstGeom>
          <a:noFill/>
          <a:ln w="28575">
            <a:solidFill>
              <a:srgbClr val="2D74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D3B067D2-8F21-4212-8C48-CF15259CB2E8}"/>
              </a:ext>
            </a:extLst>
          </p:cNvPr>
          <p:cNvSpPr>
            <a:spLocks noGrp="1"/>
          </p:cNvSpPr>
          <p:nvPr/>
        </p:nvSpPr>
        <p:spPr>
          <a:xfrm>
            <a:off x="2505075" y="2476500"/>
            <a:ext cx="1428750" cy="1428750"/>
          </a:xfrm>
          <a:prstGeom prst="roundRect">
            <a:avLst>
              <a:gd name="adj" fmla="val 14667"/>
            </a:avLst>
          </a:prstGeom>
          <a:solidFill>
            <a:srgbClr val="FFFDF8"/>
          </a:solidFill>
          <a:ln w="9525">
            <a:solidFill>
              <a:srgbClr val="D7DE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8E99686-D228-4579-B8A6-C0CDC44A8DCF}"/>
              </a:ext>
            </a:extLst>
          </p:cNvPr>
          <p:cNvSpPr>
            <a:spLocks noGrp="1"/>
          </p:cNvSpPr>
          <p:nvPr/>
        </p:nvSpPr>
        <p:spPr>
          <a:xfrm>
            <a:off x="2676525" y="2609850"/>
            <a:ext cx="323850" cy="304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98765"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FD9D652-AA35-477A-823D-92D25D3D93F5}"/>
              </a:ext>
            </a:extLst>
          </p:cNvPr>
          <p:cNvSpPr>
            <a:spLocks noGrp="1"/>
          </p:cNvSpPr>
          <p:nvPr/>
        </p:nvSpPr>
        <p:spPr>
          <a:xfrm>
            <a:off x="2676525" y="2990850"/>
            <a:ext cx="1104900" cy="4191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rPr>
              <a:t>미팅 전 브리핑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51688A3-DEF8-493A-86BF-66FC94BF9FEB}"/>
              </a:ext>
            </a:extLst>
          </p:cNvPr>
          <p:cNvSpPr>
            <a:spLocks noGrp="1"/>
          </p:cNvSpPr>
          <p:nvPr/>
        </p:nvSpPr>
        <p:spPr>
          <a:xfrm>
            <a:off x="2676525" y="3486150"/>
            <a:ext cx="1104900" cy="219075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9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히스토리·질문·준비물</a:t>
            </a: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BB172DB3-9A9A-4A4D-A642-E42DD09C6026}"/>
              </a:ext>
            </a:extLst>
          </p:cNvPr>
          <p:cNvSpPr>
            <a:spLocks noGrp="1"/>
          </p:cNvSpPr>
          <p:nvPr/>
        </p:nvSpPr>
        <p:spPr>
          <a:xfrm>
            <a:off x="2581275" y="4133850"/>
            <a:ext cx="1276350" cy="285750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8C85AFD-611B-4D6D-8C39-12C4C4E9BEFE}"/>
              </a:ext>
            </a:extLst>
          </p:cNvPr>
          <p:cNvSpPr>
            <a:spLocks noGrp="1"/>
          </p:cNvSpPr>
          <p:nvPr/>
        </p:nvSpPr>
        <p:spPr>
          <a:xfrm>
            <a:off x="2676525" y="4191000"/>
            <a:ext cx="1085850" cy="1714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82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Deal Agent</a:t>
            </a:r>
          </a:p>
        </p:txBody>
      </p:sp>
      <p:sp>
        <p:nvSpPr>
          <p:cNvPr id="19" name="직선 연결선[R] 18">
            <a:extLst>
              <a:ext uri="{FF2B5EF4-FFF2-40B4-BE49-F238E27FC236}">
                <a16:creationId xmlns:a16="http://schemas.microsoft.com/office/drawing/2014/main" id="{1283294C-E35C-4B34-9CF3-19DB9C405994}"/>
              </a:ext>
            </a:extLst>
          </p:cNvPr>
          <p:cNvSpPr>
            <a:spLocks noGrp="1"/>
          </p:cNvSpPr>
          <p:nvPr/>
        </p:nvSpPr>
        <p:spPr>
          <a:xfrm>
            <a:off x="5695950" y="3152775"/>
            <a:ext cx="457200" cy="0"/>
          </a:xfrm>
          <a:prstGeom prst="line">
            <a:avLst/>
          </a:prstGeom>
          <a:noFill/>
          <a:ln w="28575">
            <a:solidFill>
              <a:srgbClr val="2D74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B29E2A59-D5E2-4682-BA3F-3A8AE1BF2BBE}"/>
              </a:ext>
            </a:extLst>
          </p:cNvPr>
          <p:cNvSpPr>
            <a:spLocks noGrp="1"/>
          </p:cNvSpPr>
          <p:nvPr/>
        </p:nvSpPr>
        <p:spPr>
          <a:xfrm>
            <a:off x="4343400" y="2476500"/>
            <a:ext cx="1428750" cy="1428750"/>
          </a:xfrm>
          <a:prstGeom prst="roundRect">
            <a:avLst>
              <a:gd name="adj" fmla="val 14667"/>
            </a:avLst>
          </a:prstGeom>
          <a:solidFill>
            <a:srgbClr val="FFFDF8"/>
          </a:solidFill>
          <a:ln w="9525">
            <a:solidFill>
              <a:srgbClr val="D7DE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973DA85-0003-4345-BCFF-F5703FD85A8D}"/>
              </a:ext>
            </a:extLst>
          </p:cNvPr>
          <p:cNvSpPr>
            <a:spLocks noGrp="1"/>
          </p:cNvSpPr>
          <p:nvPr/>
        </p:nvSpPr>
        <p:spPr>
          <a:xfrm>
            <a:off x="4514850" y="2609850"/>
            <a:ext cx="323850" cy="304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98765"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8D08066-0A22-4A05-A779-3A97A4857EF1}"/>
              </a:ext>
            </a:extLst>
          </p:cNvPr>
          <p:cNvSpPr>
            <a:spLocks noGrp="1"/>
          </p:cNvSpPr>
          <p:nvPr/>
        </p:nvSpPr>
        <p:spPr>
          <a:xfrm>
            <a:off x="4514850" y="2990850"/>
            <a:ext cx="1104900" cy="4191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rPr>
              <a:t>미팅 후 입력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E1C474B-E294-4417-A36F-4381E2291C86}"/>
              </a:ext>
            </a:extLst>
          </p:cNvPr>
          <p:cNvSpPr>
            <a:spLocks noGrp="1"/>
          </p:cNvSpPr>
          <p:nvPr/>
        </p:nvSpPr>
        <p:spPr>
          <a:xfrm>
            <a:off x="4514850" y="3486150"/>
            <a:ext cx="1104900" cy="219075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9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STT·OCR·직접 입력</a:t>
            </a: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B15F1D76-F884-4CF2-9CF2-3974C5AEB397}"/>
              </a:ext>
            </a:extLst>
          </p:cNvPr>
          <p:cNvSpPr>
            <a:spLocks noGrp="1"/>
          </p:cNvSpPr>
          <p:nvPr/>
        </p:nvSpPr>
        <p:spPr>
          <a:xfrm>
            <a:off x="4419600" y="4133850"/>
            <a:ext cx="1276350" cy="285750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7D37297-A443-4FF6-894A-11889B644608}"/>
              </a:ext>
            </a:extLst>
          </p:cNvPr>
          <p:cNvSpPr>
            <a:spLocks noGrp="1"/>
          </p:cNvSpPr>
          <p:nvPr/>
        </p:nvSpPr>
        <p:spPr>
          <a:xfrm>
            <a:off x="4514850" y="4191000"/>
            <a:ext cx="1085850" cy="1714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82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보고서 함수</a:t>
            </a:r>
          </a:p>
        </p:txBody>
      </p:sp>
      <p:sp>
        <p:nvSpPr>
          <p:cNvPr id="26" name="직선 연결선[R] 25">
            <a:extLst>
              <a:ext uri="{FF2B5EF4-FFF2-40B4-BE49-F238E27FC236}">
                <a16:creationId xmlns:a16="http://schemas.microsoft.com/office/drawing/2014/main" id="{D1419F96-D871-4B14-9B84-D6E86F446C2B}"/>
              </a:ext>
            </a:extLst>
          </p:cNvPr>
          <p:cNvSpPr>
            <a:spLocks noGrp="1"/>
          </p:cNvSpPr>
          <p:nvPr/>
        </p:nvSpPr>
        <p:spPr>
          <a:xfrm>
            <a:off x="7534275" y="3152775"/>
            <a:ext cx="457200" cy="0"/>
          </a:xfrm>
          <a:prstGeom prst="line">
            <a:avLst/>
          </a:prstGeom>
          <a:noFill/>
          <a:ln w="28575">
            <a:solidFill>
              <a:srgbClr val="2D74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3A91669E-5D1B-4128-916F-1A405EFE0C7C}"/>
              </a:ext>
            </a:extLst>
          </p:cNvPr>
          <p:cNvSpPr>
            <a:spLocks noGrp="1"/>
          </p:cNvSpPr>
          <p:nvPr/>
        </p:nvSpPr>
        <p:spPr>
          <a:xfrm>
            <a:off x="6181725" y="2476500"/>
            <a:ext cx="1428750" cy="1428750"/>
          </a:xfrm>
          <a:prstGeom prst="roundRect">
            <a:avLst>
              <a:gd name="adj" fmla="val 14667"/>
            </a:avLst>
          </a:prstGeom>
          <a:solidFill>
            <a:srgbClr val="12355B"/>
          </a:solidFill>
          <a:ln w="9525">
            <a:solidFill>
              <a:srgbClr val="12355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0A12757-9DED-4CE7-9B0A-BADD096096FF}"/>
              </a:ext>
            </a:extLst>
          </p:cNvPr>
          <p:cNvSpPr>
            <a:spLocks noGrp="1"/>
          </p:cNvSpPr>
          <p:nvPr/>
        </p:nvSpPr>
        <p:spPr>
          <a:xfrm>
            <a:off x="6353175" y="2609850"/>
            <a:ext cx="323850" cy="304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98765"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F4C9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4C95D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03AC13A-B5C4-470B-83EE-EF78983BB30C}"/>
              </a:ext>
            </a:extLst>
          </p:cNvPr>
          <p:cNvSpPr>
            <a:spLocks noGrp="1"/>
          </p:cNvSpPr>
          <p:nvPr/>
        </p:nvSpPr>
        <p:spPr>
          <a:xfrm>
            <a:off x="6353175" y="2990850"/>
            <a:ext cx="1104900" cy="4191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rPr>
              <a:t>보고서 확정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3B9EB98-5847-493A-A266-844CEEBC339B}"/>
              </a:ext>
            </a:extLst>
          </p:cNvPr>
          <p:cNvSpPr>
            <a:spLocks noGrp="1"/>
          </p:cNvSpPr>
          <p:nvPr/>
        </p:nvSpPr>
        <p:spPr>
          <a:xfrm>
            <a:off x="6353175" y="3486150"/>
            <a:ext cx="1104900" cy="219075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975" b="0">
                <a:solidFill>
                  <a:srgbClr val="D7E6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D7E6F8"/>
                </a:solidFill>
                <a:latin typeface="Apple SD Gothic Neo"/>
                <a:ea typeface="Apple SD Gothic Neo"/>
                <a:cs typeface="Apple SD Gothic Neo"/>
              </a:rPr>
              <a:t>수정·검토·승인</a:t>
            </a:r>
          </a:p>
        </p:txBody>
      </p: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7F2CB6C3-EBBF-47A8-AF92-EA9F3379996B}"/>
              </a:ext>
            </a:extLst>
          </p:cNvPr>
          <p:cNvSpPr>
            <a:spLocks noGrp="1"/>
          </p:cNvSpPr>
          <p:nvPr/>
        </p:nvSpPr>
        <p:spPr>
          <a:xfrm>
            <a:off x="6257925" y="4133850"/>
            <a:ext cx="1276350" cy="285750"/>
          </a:xfrm>
          <a:prstGeom prst="roundRect">
            <a:avLst>
              <a:gd name="adj" fmla="val 50000"/>
            </a:avLst>
          </a:prstGeom>
          <a:solidFill>
            <a:srgbClr val="FFF0EC"/>
          </a:solidFill>
          <a:ln w="9525">
            <a:solidFill>
              <a:srgbClr val="FFF0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9F5726F-D52E-42CA-BE55-13F20F2DF257}"/>
              </a:ext>
            </a:extLst>
          </p:cNvPr>
          <p:cNvSpPr>
            <a:spLocks noGrp="1"/>
          </p:cNvSpPr>
          <p:nvPr/>
        </p:nvSpPr>
        <p:spPr>
          <a:xfrm>
            <a:off x="6353175" y="4191000"/>
            <a:ext cx="1085850" cy="1714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825" b="1">
                <a:solidFill>
                  <a:srgbClr val="B9473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B94735"/>
                </a:solidFill>
                <a:latin typeface="Apple SD Gothic Neo"/>
                <a:ea typeface="Apple SD Gothic Neo"/>
                <a:cs typeface="Apple SD Gothic Neo"/>
              </a:rPr>
              <a:t>사용자</a:t>
            </a:r>
          </a:p>
        </p:txBody>
      </p:sp>
      <p:sp>
        <p:nvSpPr>
          <p:cNvPr id="33" name="직선 연결선[R] 32">
            <a:extLst>
              <a:ext uri="{FF2B5EF4-FFF2-40B4-BE49-F238E27FC236}">
                <a16:creationId xmlns:a16="http://schemas.microsoft.com/office/drawing/2014/main" id="{2095265A-EAAA-4881-A241-A6D6B1202CA6}"/>
              </a:ext>
            </a:extLst>
          </p:cNvPr>
          <p:cNvSpPr>
            <a:spLocks noGrp="1"/>
          </p:cNvSpPr>
          <p:nvPr/>
        </p:nvSpPr>
        <p:spPr>
          <a:xfrm>
            <a:off x="9372600" y="3152775"/>
            <a:ext cx="457200" cy="0"/>
          </a:xfrm>
          <a:prstGeom prst="line">
            <a:avLst/>
          </a:prstGeom>
          <a:noFill/>
          <a:ln w="28575">
            <a:solidFill>
              <a:srgbClr val="2D74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모서리가 둥근 직사각형 33">
            <a:extLst>
              <a:ext uri="{FF2B5EF4-FFF2-40B4-BE49-F238E27FC236}">
                <a16:creationId xmlns:a16="http://schemas.microsoft.com/office/drawing/2014/main" id="{D7631133-3D3B-4A22-8A23-AA63E5194471}"/>
              </a:ext>
            </a:extLst>
          </p:cNvPr>
          <p:cNvSpPr>
            <a:spLocks noGrp="1"/>
          </p:cNvSpPr>
          <p:nvPr/>
        </p:nvSpPr>
        <p:spPr>
          <a:xfrm>
            <a:off x="8020050" y="2476500"/>
            <a:ext cx="1428750" cy="1428750"/>
          </a:xfrm>
          <a:prstGeom prst="roundRect">
            <a:avLst>
              <a:gd name="adj" fmla="val 14667"/>
            </a:avLst>
          </a:prstGeom>
          <a:solidFill>
            <a:srgbClr val="FFFDF8"/>
          </a:solidFill>
          <a:ln w="9525">
            <a:solidFill>
              <a:srgbClr val="D7DE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B0CC005-5583-4710-9387-6B7AF0CFF8EE}"/>
              </a:ext>
            </a:extLst>
          </p:cNvPr>
          <p:cNvSpPr>
            <a:spLocks noGrp="1"/>
          </p:cNvSpPr>
          <p:nvPr/>
        </p:nvSpPr>
        <p:spPr>
          <a:xfrm>
            <a:off x="8191500" y="2609850"/>
            <a:ext cx="323850" cy="304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98765"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5BBD30B-7923-47B2-8CCD-F50F40FDC211}"/>
              </a:ext>
            </a:extLst>
          </p:cNvPr>
          <p:cNvSpPr>
            <a:spLocks noGrp="1"/>
          </p:cNvSpPr>
          <p:nvPr/>
        </p:nvSpPr>
        <p:spPr>
          <a:xfrm>
            <a:off x="8191500" y="2990850"/>
            <a:ext cx="1104900" cy="4191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rPr>
              <a:t>정보 반영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14C2C34-E9C1-4976-8FE3-008577EDAF22}"/>
              </a:ext>
            </a:extLst>
          </p:cNvPr>
          <p:cNvSpPr>
            <a:spLocks noGrp="1"/>
          </p:cNvSpPr>
          <p:nvPr/>
        </p:nvSpPr>
        <p:spPr>
          <a:xfrm>
            <a:off x="8191500" y="3486150"/>
            <a:ext cx="1104900" cy="219075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9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CRM 저장·재계산</a:t>
            </a:r>
          </a:p>
        </p:txBody>
      </p:sp>
      <p:sp>
        <p:nvSpPr>
          <p:cNvPr id="38" name="모서리가 둥근 직사각형 37">
            <a:extLst>
              <a:ext uri="{FF2B5EF4-FFF2-40B4-BE49-F238E27FC236}">
                <a16:creationId xmlns:a16="http://schemas.microsoft.com/office/drawing/2014/main" id="{D6B9A05E-83DA-44F1-A39E-26235C492309}"/>
              </a:ext>
            </a:extLst>
          </p:cNvPr>
          <p:cNvSpPr>
            <a:spLocks noGrp="1"/>
          </p:cNvSpPr>
          <p:nvPr/>
        </p:nvSpPr>
        <p:spPr>
          <a:xfrm>
            <a:off x="8096250" y="4133850"/>
            <a:ext cx="1276350" cy="285750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ECFDFEBD-232D-4BA0-9795-5F3615884A53}"/>
              </a:ext>
            </a:extLst>
          </p:cNvPr>
          <p:cNvSpPr>
            <a:spLocks noGrp="1"/>
          </p:cNvSpPr>
          <p:nvPr/>
        </p:nvSpPr>
        <p:spPr>
          <a:xfrm>
            <a:off x="8191500" y="4191000"/>
            <a:ext cx="1085850" cy="1714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82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Deal → Portfolio</a:t>
            </a:r>
          </a:p>
        </p:txBody>
      </p:sp>
      <p:sp>
        <p:nvSpPr>
          <p:cNvPr id="40" name="모서리가 둥근 직사각형 39">
            <a:extLst>
              <a:ext uri="{FF2B5EF4-FFF2-40B4-BE49-F238E27FC236}">
                <a16:creationId xmlns:a16="http://schemas.microsoft.com/office/drawing/2014/main" id="{4B86B061-AEB2-4818-B537-D2AE1D47FCA1}"/>
              </a:ext>
            </a:extLst>
          </p:cNvPr>
          <p:cNvSpPr>
            <a:spLocks noGrp="1"/>
          </p:cNvSpPr>
          <p:nvPr/>
        </p:nvSpPr>
        <p:spPr>
          <a:xfrm>
            <a:off x="9858375" y="2476500"/>
            <a:ext cx="1428750" cy="1428750"/>
          </a:xfrm>
          <a:prstGeom prst="roundRect">
            <a:avLst>
              <a:gd name="adj" fmla="val 14667"/>
            </a:avLst>
          </a:prstGeom>
          <a:solidFill>
            <a:srgbClr val="FFFDF8"/>
          </a:solidFill>
          <a:ln w="9525">
            <a:solidFill>
              <a:srgbClr val="D7DE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29EE76B-57B1-4AA9-9A8A-380F9424B636}"/>
              </a:ext>
            </a:extLst>
          </p:cNvPr>
          <p:cNvSpPr>
            <a:spLocks noGrp="1"/>
          </p:cNvSpPr>
          <p:nvPr/>
        </p:nvSpPr>
        <p:spPr>
          <a:xfrm>
            <a:off x="10029825" y="2609850"/>
            <a:ext cx="323850" cy="304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98765"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6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E8B6ED3E-5736-4328-BF3C-902EC7E45102}"/>
              </a:ext>
            </a:extLst>
          </p:cNvPr>
          <p:cNvSpPr>
            <a:spLocks noGrp="1"/>
          </p:cNvSpPr>
          <p:nvPr/>
        </p:nvSpPr>
        <p:spPr>
          <a:xfrm>
            <a:off x="10029825" y="2990850"/>
            <a:ext cx="1104900" cy="4191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355B"/>
                </a:solidFill>
                <a:latin typeface="Apple SD Gothic Neo"/>
                <a:ea typeface="Apple SD Gothic Neo"/>
                <a:cs typeface="Apple SD Gothic Neo"/>
              </a:rPr>
              <a:t>분석(업무,매출)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84089A17-F0DE-4099-AB83-FD1A5F46E71D}"/>
              </a:ext>
            </a:extLst>
          </p:cNvPr>
          <p:cNvSpPr>
            <a:spLocks noGrp="1"/>
          </p:cNvSpPr>
          <p:nvPr/>
        </p:nvSpPr>
        <p:spPr>
          <a:xfrm>
            <a:off x="10029825" y="3486150"/>
            <a:ext cx="1104900" cy="219075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9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업무·매출 분석</a:t>
            </a:r>
          </a:p>
        </p:txBody>
      </p:sp>
      <p:sp>
        <p:nvSpPr>
          <p:cNvPr id="44" name="모서리가 둥근 직사각형 43">
            <a:extLst>
              <a:ext uri="{FF2B5EF4-FFF2-40B4-BE49-F238E27FC236}">
                <a16:creationId xmlns:a16="http://schemas.microsoft.com/office/drawing/2014/main" id="{B6C7D936-F80D-45A3-89AF-78CFAC0E1B0C}"/>
              </a:ext>
            </a:extLst>
          </p:cNvPr>
          <p:cNvSpPr>
            <a:spLocks noGrp="1"/>
          </p:cNvSpPr>
          <p:nvPr/>
        </p:nvSpPr>
        <p:spPr>
          <a:xfrm>
            <a:off x="9934575" y="4133850"/>
            <a:ext cx="1276350" cy="285750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681F8C85-9F09-4441-9CDE-5D1C2AC6D01B}"/>
              </a:ext>
            </a:extLst>
          </p:cNvPr>
          <p:cNvSpPr>
            <a:spLocks noGrp="1"/>
          </p:cNvSpPr>
          <p:nvPr/>
        </p:nvSpPr>
        <p:spPr>
          <a:xfrm>
            <a:off x="10029825" y="4191000"/>
            <a:ext cx="1085850" cy="1714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82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Assistant Agent</a:t>
            </a:r>
          </a:p>
        </p:txBody>
      </p:sp>
      <p:sp>
        <p:nvSpPr>
          <p:cNvPr id="46" name="모서리가 둥근 직사각형 45">
            <a:extLst>
              <a:ext uri="{FF2B5EF4-FFF2-40B4-BE49-F238E27FC236}">
                <a16:creationId xmlns:a16="http://schemas.microsoft.com/office/drawing/2014/main" id="{34F9DFA4-77F1-4A5C-ABCA-FE91E848D65D}"/>
              </a:ext>
            </a:extLst>
          </p:cNvPr>
          <p:cNvSpPr>
            <a:spLocks noGrp="1"/>
          </p:cNvSpPr>
          <p:nvPr/>
        </p:nvSpPr>
        <p:spPr>
          <a:xfrm>
            <a:off x="2000250" y="4914900"/>
            <a:ext cx="8191500" cy="704850"/>
          </a:xfrm>
          <a:prstGeom prst="roundRect">
            <a:avLst>
              <a:gd name="adj" fmla="val 27027"/>
            </a:avLst>
          </a:prstGeom>
          <a:solidFill>
            <a:srgbClr val="EAF7F5"/>
          </a:solidFill>
          <a:ln w="9525">
            <a:solidFill>
              <a:srgbClr val="EAF7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C7572D76-BCE0-4579-95AA-E05EDF7C8D54}"/>
              </a:ext>
            </a:extLst>
          </p:cNvPr>
          <p:cNvSpPr>
            <a:spLocks noGrp="1"/>
          </p:cNvSpPr>
          <p:nvPr/>
        </p:nvSpPr>
        <p:spPr>
          <a:xfrm>
            <a:off x="2286000" y="5143500"/>
            <a:ext cx="7620000" cy="2667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277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77B63"/>
                </a:solidFill>
                <a:latin typeface="Apple SD Gothic Neo"/>
                <a:ea typeface="Apple SD Gothic Neo"/>
                <a:cs typeface="Apple SD Gothic Neo"/>
              </a:rPr>
              <a:t>운영 원칙 [검증]: AI는 분석·준비·초안·제안까지, 최종 확정은 사람의 선택과 승인으로.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E1768E9A-B7D4-4B4A-B0D4-B6E2F99B514D}"/>
              </a:ext>
            </a:extLst>
          </p:cNvPr>
          <p:cNvSpPr>
            <a:spLocks noGrp="1"/>
          </p:cNvSpPr>
          <p:nvPr/>
        </p:nvSpPr>
        <p:spPr>
          <a:xfrm>
            <a:off x="647700" y="6572250"/>
            <a:ext cx="4000500" cy="1714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82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카스테라(Cass Terra) · SalesLuv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53C685F4-A48D-4210-B89E-8FF2ADDEA7B6}"/>
              </a:ext>
            </a:extLst>
          </p:cNvPr>
          <p:cNvSpPr>
            <a:spLocks noGrp="1"/>
          </p:cNvSpPr>
          <p:nvPr/>
        </p:nvSpPr>
        <p:spPr>
          <a:xfrm>
            <a:off x="11144250" y="6553200"/>
            <a:ext cx="400050" cy="1714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82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9045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48E02FE2-0CBA-4E16-983A-D12784AD01B1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857250" cy="2476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BA9A233-A8A8-4544-9FDF-C5B07D02F66C}"/>
              </a:ext>
            </a:extLst>
          </p:cNvPr>
          <p:cNvSpPr>
            <a:spLocks noGrp="1"/>
          </p:cNvSpPr>
          <p:nvPr/>
        </p:nvSpPr>
        <p:spPr>
          <a:xfrm>
            <a:off x="647700" y="666750"/>
            <a:ext cx="9906000" cy="5143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70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기대효과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0B14323-CA68-4BCE-8A64-DE26E314EB93}"/>
              </a:ext>
            </a:extLst>
          </p:cNvPr>
          <p:cNvSpPr>
            <a:spLocks noGrp="1"/>
          </p:cNvSpPr>
          <p:nvPr/>
        </p:nvSpPr>
        <p:spPr>
          <a:xfrm>
            <a:off x="666750" y="1238250"/>
            <a:ext cx="10287000" cy="304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기존 방식의 “찾고 정리하고 다시 입력”을 줄여, 영업 판단에 쓰는 시간을 늘립니다.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952A6742-9B85-4B8D-A3FC-46160103E638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10896600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7640DD65-BAAB-4071-AAF2-70D0A62C90A3}"/>
              </a:ext>
            </a:extLst>
          </p:cNvPr>
          <p:cNvSpPr>
            <a:spLocks noGrp="1"/>
          </p:cNvSpPr>
          <p:nvPr/>
        </p:nvSpPr>
        <p:spPr>
          <a:xfrm>
            <a:off x="647700" y="2019300"/>
            <a:ext cx="5048250" cy="3429000"/>
          </a:xfrm>
          <a:prstGeom prst="roundRect">
            <a:avLst>
              <a:gd name="adj" fmla="val 6667"/>
            </a:avLst>
          </a:prstGeom>
          <a:solidFill>
            <a:srgbClr val="FFFDF8"/>
          </a:solidFill>
          <a:ln w="9525">
            <a:solidFill>
              <a:srgbClr val="D7DE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B424C35-A3F5-4250-8772-51DF17106D9C}"/>
              </a:ext>
            </a:extLst>
          </p:cNvPr>
          <p:cNvSpPr>
            <a:spLocks noGrp="1"/>
          </p:cNvSpPr>
          <p:nvPr/>
        </p:nvSpPr>
        <p:spPr>
          <a:xfrm>
            <a:off x="952500" y="2324100"/>
            <a:ext cx="2095500" cy="304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94967"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기존 방법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7ACC64D-29C7-4DB2-8334-4F87966BEA4C}"/>
              </a:ext>
            </a:extLst>
          </p:cNvPr>
          <p:cNvSpPr>
            <a:spLocks noGrp="1"/>
          </p:cNvSpPr>
          <p:nvPr/>
        </p:nvSpPr>
        <p:spPr>
          <a:xfrm>
            <a:off x="952500" y="2895600"/>
            <a:ext cx="190500" cy="22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77160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6B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56B55"/>
                </a:solidFill>
                <a:latin typeface="Apple SD Gothic Neo"/>
                <a:ea typeface="Apple SD Gothic Neo"/>
                <a:cs typeface="Apple SD Gothic Neo"/>
              </a:rPr>
              <a:t>·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099DA72-45A3-401A-99DB-E553495AB9A4}"/>
              </a:ext>
            </a:extLst>
          </p:cNvPr>
          <p:cNvSpPr>
            <a:spLocks noGrp="1"/>
          </p:cNvSpPr>
          <p:nvPr/>
        </p:nvSpPr>
        <p:spPr>
          <a:xfrm>
            <a:off x="1257300" y="2914650"/>
            <a:ext cx="3714750" cy="238125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매출은 Excel, 마케팅은 PPT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A705D9F-41F8-4C96-B898-92EEF263D657}"/>
              </a:ext>
            </a:extLst>
          </p:cNvPr>
          <p:cNvSpPr>
            <a:spLocks noGrp="1"/>
          </p:cNvSpPr>
          <p:nvPr/>
        </p:nvSpPr>
        <p:spPr>
          <a:xfrm>
            <a:off x="952500" y="3409950"/>
            <a:ext cx="190500" cy="22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77160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6B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56B55"/>
                </a:solidFill>
                <a:latin typeface="Apple SD Gothic Neo"/>
                <a:ea typeface="Apple SD Gothic Neo"/>
                <a:cs typeface="Apple SD Gothic Neo"/>
              </a:rPr>
              <a:t>·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4510F7B-DAB2-4370-9FD0-D737B5B7D54B}"/>
              </a:ext>
            </a:extLst>
          </p:cNvPr>
          <p:cNvSpPr>
            <a:spLocks noGrp="1"/>
          </p:cNvSpPr>
          <p:nvPr/>
        </p:nvSpPr>
        <p:spPr>
          <a:xfrm>
            <a:off x="1257300" y="3429000"/>
            <a:ext cx="3714750" cy="238125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미팅 후 수기 정리와 반복 입력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15FD4E1-5021-4E79-B3B7-99E580B5E1D3}"/>
              </a:ext>
            </a:extLst>
          </p:cNvPr>
          <p:cNvSpPr>
            <a:spLocks noGrp="1"/>
          </p:cNvSpPr>
          <p:nvPr/>
        </p:nvSpPr>
        <p:spPr>
          <a:xfrm>
            <a:off x="952500" y="3924300"/>
            <a:ext cx="190500" cy="22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77160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6B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56B55"/>
                </a:solidFill>
                <a:latin typeface="Apple SD Gothic Neo"/>
                <a:ea typeface="Apple SD Gothic Neo"/>
                <a:cs typeface="Apple SD Gothic Neo"/>
              </a:rPr>
              <a:t>·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B942A49-0C0E-4BA8-8AEC-197234548971}"/>
              </a:ext>
            </a:extLst>
          </p:cNvPr>
          <p:cNvSpPr>
            <a:spLocks noGrp="1"/>
          </p:cNvSpPr>
          <p:nvPr/>
        </p:nvSpPr>
        <p:spPr>
          <a:xfrm>
            <a:off x="1257300" y="3943350"/>
            <a:ext cx="3714750" cy="238125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인수인계는 형식적 문서 전달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26B2C5E-DC27-483F-8F9A-733E494478E7}"/>
              </a:ext>
            </a:extLst>
          </p:cNvPr>
          <p:cNvSpPr>
            <a:spLocks noGrp="1"/>
          </p:cNvSpPr>
          <p:nvPr/>
        </p:nvSpPr>
        <p:spPr>
          <a:xfrm>
            <a:off x="952500" y="4438650"/>
            <a:ext cx="190500" cy="22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77160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6B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56B55"/>
                </a:solidFill>
                <a:latin typeface="Apple SD Gothic Neo"/>
                <a:ea typeface="Apple SD Gothic Neo"/>
                <a:cs typeface="Apple SD Gothic Neo"/>
              </a:rPr>
              <a:t>·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2B500A3-D695-41EC-8AFA-1CF96EAFE51B}"/>
              </a:ext>
            </a:extLst>
          </p:cNvPr>
          <p:cNvSpPr>
            <a:spLocks noGrp="1"/>
          </p:cNvSpPr>
          <p:nvPr/>
        </p:nvSpPr>
        <p:spPr>
          <a:xfrm>
            <a:off x="1257300" y="4457700"/>
            <a:ext cx="3714750" cy="238125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숫자는 보이지만 원인·맥락은 분산</a:t>
            </a: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986EBB80-1318-4907-86CA-EC6849C8CE72}"/>
              </a:ext>
            </a:extLst>
          </p:cNvPr>
          <p:cNvSpPr>
            <a:spLocks noGrp="1"/>
          </p:cNvSpPr>
          <p:nvPr/>
        </p:nvSpPr>
        <p:spPr>
          <a:xfrm>
            <a:off x="6115050" y="2019300"/>
            <a:ext cx="5429250" cy="3429000"/>
          </a:xfrm>
          <a:prstGeom prst="roundRect">
            <a:avLst>
              <a:gd name="adj" fmla="val 6667"/>
            </a:avLst>
          </a:prstGeom>
          <a:solidFill>
            <a:srgbClr val="12355B"/>
          </a:solidFill>
          <a:ln w="9525">
            <a:solidFill>
              <a:srgbClr val="12355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F14B25A-4BE0-4B96-9473-2C9162F31A15}"/>
              </a:ext>
            </a:extLst>
          </p:cNvPr>
          <p:cNvSpPr>
            <a:spLocks noGrp="1"/>
          </p:cNvSpPr>
          <p:nvPr/>
        </p:nvSpPr>
        <p:spPr>
          <a:xfrm>
            <a:off x="6419850" y="2324100"/>
            <a:ext cx="2667000" cy="304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94967"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rPr>
              <a:t>SalesLuv 이용 후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EC1BC97-420B-4787-A2EA-64AAA1BC5244}"/>
              </a:ext>
            </a:extLst>
          </p:cNvPr>
          <p:cNvSpPr>
            <a:spLocks noGrp="1"/>
          </p:cNvSpPr>
          <p:nvPr/>
        </p:nvSpPr>
        <p:spPr>
          <a:xfrm>
            <a:off x="6419850" y="2895600"/>
            <a:ext cx="228600" cy="22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84175"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F4C9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4C95D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2D641B6-09EE-4428-B105-BC92B924C1F4}"/>
              </a:ext>
            </a:extLst>
          </p:cNvPr>
          <p:cNvSpPr>
            <a:spLocks noGrp="1"/>
          </p:cNvSpPr>
          <p:nvPr/>
        </p:nvSpPr>
        <p:spPr>
          <a:xfrm>
            <a:off x="6800850" y="2914650"/>
            <a:ext cx="4191000" cy="238125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E8F0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E8F0F8"/>
                </a:solidFill>
                <a:latin typeface="Apple SD Gothic Neo"/>
                <a:ea typeface="Apple SD Gothic Neo"/>
                <a:cs typeface="Apple SD Gothic Neo"/>
              </a:rPr>
              <a:t>정형 데이터는 자동 집계·검증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DF0B2E5-D132-438D-A36C-1B180DA99EF1}"/>
              </a:ext>
            </a:extLst>
          </p:cNvPr>
          <p:cNvSpPr>
            <a:spLocks noGrp="1"/>
          </p:cNvSpPr>
          <p:nvPr/>
        </p:nvSpPr>
        <p:spPr>
          <a:xfrm>
            <a:off x="6419850" y="3409950"/>
            <a:ext cx="228600" cy="22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84175"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F4C9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4C95D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23DE5F9-0335-4456-A267-F767C70064AA}"/>
              </a:ext>
            </a:extLst>
          </p:cNvPr>
          <p:cNvSpPr>
            <a:spLocks noGrp="1"/>
          </p:cNvSpPr>
          <p:nvPr/>
        </p:nvSpPr>
        <p:spPr>
          <a:xfrm>
            <a:off x="6800850" y="3429000"/>
            <a:ext cx="4191000" cy="238125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E8F0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E8F0F8"/>
                </a:solidFill>
                <a:latin typeface="Apple SD Gothic Neo"/>
                <a:ea typeface="Apple SD Gothic Neo"/>
                <a:cs typeface="Apple SD Gothic Neo"/>
              </a:rPr>
              <a:t>정성 데이터는 브리핑으로 구조화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5C66571-2382-4E06-B664-73498660C421}"/>
              </a:ext>
            </a:extLst>
          </p:cNvPr>
          <p:cNvSpPr>
            <a:spLocks noGrp="1"/>
          </p:cNvSpPr>
          <p:nvPr/>
        </p:nvSpPr>
        <p:spPr>
          <a:xfrm>
            <a:off x="6419850" y="3924300"/>
            <a:ext cx="228600" cy="22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84175"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F4C9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4C95D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6656EB4-FEF7-40A5-BC7C-A5291A5EB3D2}"/>
              </a:ext>
            </a:extLst>
          </p:cNvPr>
          <p:cNvSpPr>
            <a:spLocks noGrp="1"/>
          </p:cNvSpPr>
          <p:nvPr/>
        </p:nvSpPr>
        <p:spPr>
          <a:xfrm>
            <a:off x="6800850" y="3943350"/>
            <a:ext cx="4191000" cy="238125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E8F0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E8F0F8"/>
                </a:solidFill>
                <a:latin typeface="Apple SD Gothic Neo"/>
                <a:ea typeface="Apple SD Gothic Neo"/>
                <a:cs typeface="Apple SD Gothic Neo"/>
              </a:rPr>
              <a:t>승인된 변경만 CRM에 반영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97BFD5B-2B86-49FE-83F3-82458BAB6D22}"/>
              </a:ext>
            </a:extLst>
          </p:cNvPr>
          <p:cNvSpPr>
            <a:spLocks noGrp="1"/>
          </p:cNvSpPr>
          <p:nvPr/>
        </p:nvSpPr>
        <p:spPr>
          <a:xfrm>
            <a:off x="6419850" y="4438650"/>
            <a:ext cx="228600" cy="22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84175"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F4C9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4C95D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527C490-7334-4FD4-80B9-B10B3E678458}"/>
              </a:ext>
            </a:extLst>
          </p:cNvPr>
          <p:cNvSpPr>
            <a:spLocks noGrp="1"/>
          </p:cNvSpPr>
          <p:nvPr/>
        </p:nvSpPr>
        <p:spPr>
          <a:xfrm>
            <a:off x="6800850" y="4457700"/>
            <a:ext cx="4191000" cy="238125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E8F0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E8F0F8"/>
                </a:solidFill>
                <a:latin typeface="Apple SD Gothic Neo"/>
                <a:ea typeface="Apple SD Gothic Neo"/>
                <a:cs typeface="Apple SD Gothic Neo"/>
              </a:rPr>
              <a:t>딜별 판단과 전체 우선순위를 재계산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81859A9-E8CB-455B-84F0-7ED4E7AEA3C9}"/>
              </a:ext>
            </a:extLst>
          </p:cNvPr>
          <p:cNvSpPr>
            <a:spLocks noGrp="1"/>
          </p:cNvSpPr>
          <p:nvPr/>
        </p:nvSpPr>
        <p:spPr>
          <a:xfrm>
            <a:off x="876300" y="5924550"/>
            <a:ext cx="10477500" cy="1905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96451" lnSpcReduction="10000"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7C5C00"/>
                </a:solidFill>
                <a:latin typeface="Apple SD Gothic Neo"/>
                <a:ea typeface="Apple SD Gothic Neo"/>
                <a:cs typeface="Apple SD Gothic Neo"/>
              </a:defRPr>
            </a:pPr>
            <a:endParaRPr sz="1200" b="1">
              <a:solidFill>
                <a:srgbClr val="7C5C00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4939E40-043B-4A39-A852-4F9121C5C057}"/>
              </a:ext>
            </a:extLst>
          </p:cNvPr>
          <p:cNvSpPr>
            <a:spLocks noGrp="1"/>
          </p:cNvSpPr>
          <p:nvPr/>
        </p:nvSpPr>
        <p:spPr>
          <a:xfrm>
            <a:off x="647700" y="6572250"/>
            <a:ext cx="4000500" cy="1714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82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B7785"/>
                </a:solidFill>
                <a:latin typeface="Apple SD Gothic Neo"/>
                <a:ea typeface="Apple SD Gothic Neo"/>
                <a:cs typeface="Apple SD Gothic Neo"/>
              </a:rPr>
              <a:t>카스테라(Cass Terra) · SalesLuv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134D4C8-E08A-44BC-8954-D3F69401CC9E}"/>
              </a:ext>
            </a:extLst>
          </p:cNvPr>
          <p:cNvSpPr>
            <a:spLocks noGrp="1"/>
          </p:cNvSpPr>
          <p:nvPr/>
        </p:nvSpPr>
        <p:spPr>
          <a:xfrm>
            <a:off x="11144250" y="6553200"/>
            <a:ext cx="400050" cy="1714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82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D74DA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53383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819275" y="89798"/>
            <a:ext cx="8553450" cy="6678404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A498F1F0-84A2-4206-B755-F79A1EF2C94C}"/>
              </a:ext>
            </a:extLst>
          </p:cNvPr>
          <p:cNvSpPr>
            <a:spLocks noGrp="1"/>
          </p:cNvSpPr>
          <p:nvPr/>
        </p:nvSpPr>
        <p:spPr>
          <a:xfrm>
            <a:off x="2524125" y="5676900"/>
            <a:ext cx="6191250" cy="7429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8354F73-CD57-4F0C-BAB6-6C0D4B8A455F}"/>
              </a:ext>
            </a:extLst>
          </p:cNvPr>
          <p:cNvSpPr>
            <a:spLocks noGrp="1"/>
          </p:cNvSpPr>
          <p:nvPr/>
        </p:nvSpPr>
        <p:spPr>
          <a:xfrm>
            <a:off x="2600325" y="5715000"/>
            <a:ext cx="5715000" cy="304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0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분석(보고,매출) - 업무·매출 분석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82AC82C-2BC3-49C8-89A0-4823053FD3C1}"/>
              </a:ext>
            </a:extLst>
          </p:cNvPr>
          <p:cNvSpPr>
            <a:spLocks noGrp="1"/>
          </p:cNvSpPr>
          <p:nvPr/>
        </p:nvSpPr>
        <p:spPr>
          <a:xfrm>
            <a:off x="2600325" y="6048375"/>
            <a:ext cx="5715000" cy="2476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0">
                <a:solidFill>
                  <a:srgbClr val="7A87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A8795"/>
                </a:solidFill>
                <a:latin typeface="Apple SD Gothic Neo"/>
                <a:ea typeface="Apple SD Gothic Neo"/>
                <a:cs typeface="Apple SD Gothic Neo"/>
              </a:rPr>
              <a:t>업무·매출 분석</a:t>
            </a:r>
          </a:p>
        </p:txBody>
      </p:sp>
    </p:spTree>
    <p:extLst>
      <p:ext uri="{BB962C8B-B14F-4D97-AF65-F5344CB8AC3E}">
        <p14:creationId xmlns:p14="http://schemas.microsoft.com/office/powerpoint/2010/main" val="19241277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819275" y="60862"/>
            <a:ext cx="8553450" cy="6736276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D36A59FB-94CB-4423-8412-E417EEB7483E}"/>
              </a:ext>
            </a:extLst>
          </p:cNvPr>
          <p:cNvSpPr>
            <a:spLocks noGrp="1"/>
          </p:cNvSpPr>
          <p:nvPr/>
        </p:nvSpPr>
        <p:spPr>
          <a:xfrm>
            <a:off x="2524125" y="5676900"/>
            <a:ext cx="6191250" cy="7429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087665A-8A68-4284-A93C-6541732AF411}"/>
              </a:ext>
            </a:extLst>
          </p:cNvPr>
          <p:cNvSpPr>
            <a:spLocks noGrp="1"/>
          </p:cNvSpPr>
          <p:nvPr/>
        </p:nvSpPr>
        <p:spPr>
          <a:xfrm>
            <a:off x="2600325" y="5715000"/>
            <a:ext cx="5715000" cy="304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0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분석(보고,매출) - 팀 범위 분석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0B825F1-D36D-44E4-A6F9-80852F0FF833}"/>
              </a:ext>
            </a:extLst>
          </p:cNvPr>
          <p:cNvSpPr>
            <a:spLocks noGrp="1"/>
          </p:cNvSpPr>
          <p:nvPr/>
        </p:nvSpPr>
        <p:spPr>
          <a:xfrm>
            <a:off x="2600325" y="6048375"/>
            <a:ext cx="5715000" cy="2476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0">
                <a:solidFill>
                  <a:srgbClr val="7A87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A8795"/>
                </a:solidFill>
                <a:latin typeface="Apple SD Gothic Neo"/>
                <a:ea typeface="Apple SD Gothic Neo"/>
                <a:cs typeface="Apple SD Gothic Neo"/>
              </a:rPr>
              <a:t>보고·매출 분석</a:t>
            </a:r>
          </a:p>
        </p:txBody>
      </p:sp>
    </p:spTree>
    <p:extLst>
      <p:ext uri="{BB962C8B-B14F-4D97-AF65-F5344CB8AC3E}">
        <p14:creationId xmlns:p14="http://schemas.microsoft.com/office/powerpoint/2010/main" val="56704778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1485</Words>
  <Application>Microsoft Macintosh PowerPoint</Application>
  <DocSecurity>0</DocSecurity>
  <PresentationFormat>와이드스크린</PresentationFormat>
  <Paragraphs>243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Apple SD Gothic Neo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SKN 30기_1</cp:lastModifiedBy>
  <cp:revision>2</cp:revision>
  <dcterms:created xsi:type="dcterms:W3CDTF">2026-08-13T05:57:49Z</dcterms:created>
  <dcterms:modified xsi:type="dcterms:W3CDTF">2026-08-14T00:41:46Z</dcterms:modified>
</cp:coreProperties>
</file>